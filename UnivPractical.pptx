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8" r:id="rId4"/>
    <p:sldId id="257" r:id="rId5"/>
    <p:sldId id="289" r:id="rId6"/>
    <p:sldId id="259" r:id="rId7"/>
    <p:sldId id="271" r:id="rId8"/>
    <p:sldId id="272" r:id="rId9"/>
    <p:sldId id="273" r:id="rId10"/>
    <p:sldId id="274" r:id="rId11"/>
    <p:sldId id="261" r:id="rId12"/>
    <p:sldId id="280" r:id="rId13"/>
    <p:sldId id="262" r:id="rId14"/>
    <p:sldId id="281" r:id="rId15"/>
    <p:sldId id="287" r:id="rId16"/>
    <p:sldId id="282" r:id="rId18"/>
    <p:sldId id="263" r:id="rId19"/>
    <p:sldId id="264" r:id="rId20"/>
    <p:sldId id="265" r:id="rId21"/>
    <p:sldId id="266" r:id="rId22"/>
    <p:sldId id="275" r:id="rId23"/>
    <p:sldId id="276" r:id="rId24"/>
    <p:sldId id="277" r:id="rId25"/>
    <p:sldId id="286" r:id="rId26"/>
    <p:sldId id="268" r:id="rId27"/>
    <p:sldId id="284" r:id="rId28"/>
    <p:sldId id="285" r:id="rId29"/>
    <p:sldId id="269" r:id="rId30"/>
    <p:sldId id="278" r:id="rId31"/>
    <p:sldId id="279" r:id="rId32"/>
    <p:sldId id="270" r:id="rId33"/>
    <p:sldId id="288" r:id="rId34"/>
  </p:sldIdLst>
  <p:sldSz cx="12192000" cy="6858000"/>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9pPr>
  </p:defaultTextStyle>
  <p:extLst>
    <p:ext uri="{EFAFB233-063F-42B5-8137-9DF3F51BA10A}">
      <p15:sldGuideLst xmlns:p15="http://schemas.microsoft.com/office/powerpoint/2012/main">
        <p15:guide id="1" orient="horz" pos="2146" userDrawn="1">
          <p15:clr>
            <a:srgbClr val="A4A3A4"/>
          </p15:clr>
        </p15:guide>
        <p15:guide id="2" pos="3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8999"/>
    <p:restoredTop sz="94660"/>
  </p:normalViewPr>
  <p:slideViewPr>
    <p:cSldViewPr snapToGrid="0" showGuides="1">
      <p:cViewPr varScale="1">
        <p:scale>
          <a:sx n="87" d="100"/>
          <a:sy n="87" d="100"/>
        </p:scale>
        <p:origin x="-346" y="-86"/>
      </p:cViewPr>
      <p:guideLst>
        <p:guide orient="horz" pos="2146"/>
        <p:guide pos="38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1B76A858-9987-44BA-B045-DF2B6727110C}" type="datetimeFigureOut">
              <a:rPr kumimoji="0" lang="en-IN" sz="1200" b="0" i="0" u="none" strike="noStrike" kern="1200" cap="none" spc="0" normalizeH="0" baseline="0" noProof="0" smtClean="0">
                <a:ln>
                  <a:noFill/>
                </a:ln>
                <a:solidFill>
                  <a:schemeClr val="tx1"/>
                </a:solidFill>
                <a:effectLst/>
                <a:uLnTx/>
                <a:uFillTx/>
                <a:latin typeface="+mn-lt"/>
                <a:ea typeface="+mn-ea"/>
                <a:cs typeface="+mn-cs"/>
              </a:rPr>
            </a:fld>
            <a:endParaRPr kumimoji="0" lang="en-IN"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a:buNone/>
            </a:pPr>
            <a:fld id="{9A0DB2DC-4C9A-4742-B13C-FB6460FD3503}" type="slidenum">
              <a:rPr lang="en-IN" altLang="x-none" sz="1200" dirty="0"/>
            </a:fld>
            <a:endParaRPr lang="en-IN" altLang="x-none" sz="1200"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p>
            <a:pPr lvl="0"/>
            <a:r>
              <a:rPr dirty="0"/>
              <a:t>Click to edit Master title style</a:t>
            </a:r>
            <a:endParaRPr lang="en-IN" altLang="x-none" dirty="0"/>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lang="en-IN" altLang="x-none"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BAF0F04-B397-44D5-9D22-A7A26C5AD9C1}"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a:buNone/>
            </a:pPr>
            <a:fld id="{9A0DB2DC-4C9A-4742-B13C-FB6460FD3503}" type="slidenum">
              <a:rPr lang="en-IN" altLang="x-none" dirty="0">
                <a:latin typeface="Calibri" panose="020F0502020204030204" pitchFamily="34" charset="0"/>
                <a:ea typeface="Arial" panose="020B0604020202020204" pitchFamily="34" charset="0"/>
              </a:rPr>
            </a:fld>
            <a:endParaRPr lang="en-IN" altLang="x-none" dirty="0">
              <a:latin typeface="Calibri" panose="020F0502020204030204" pitchFamily="34" charset="0"/>
              <a:ea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emf"/><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image" Target="../media/image2.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2.emf"/><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2.emf"/><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Title 1"/>
          <p:cNvSpPr>
            <a:spLocks noGrp="1"/>
          </p:cNvSpPr>
          <p:nvPr>
            <p:ph type="ctrTitle"/>
          </p:nvPr>
        </p:nvSpPr>
        <p:spPr>
          <a:xfrm>
            <a:off x="1524000" y="1363663"/>
            <a:ext cx="9144000" cy="841375"/>
          </a:xfrm>
        </p:spPr>
        <p:txBody>
          <a:bodyPr vert="horz" wrap="square" lIns="91440" tIns="45720" rIns="91440" bIns="45720" anchor="b" anchorCtr="0"/>
          <a:p>
            <a:pPr defTabSz="914400">
              <a:buClrTx/>
              <a:buSzTx/>
              <a:buFontTx/>
              <a:buNone/>
            </a:pPr>
            <a:r>
              <a:rPr lang="en-US" sz="2800" b="1" kern="1200" dirty="0">
                <a:latin typeface="Times New Roman" panose="02020603050405020304" pitchFamily="18" charset="0"/>
                <a:ea typeface="+mj-ea"/>
                <a:cs typeface="Times New Roman" panose="02020603050405020304" pitchFamily="18" charset="0"/>
              </a:rPr>
              <a:t>Advanced Gold Price Forecasting System</a:t>
            </a:r>
            <a:endParaRPr lang="en-US" sz="2800" b="1" kern="1200" dirty="0">
              <a:latin typeface="Times New Roman" panose="02020603050405020304" pitchFamily="18" charset="0"/>
              <a:ea typeface="+mj-ea"/>
              <a:cs typeface="Times New Roman" panose="02020603050405020304" pitchFamily="18" charset="0"/>
            </a:endParaRPr>
          </a:p>
        </p:txBody>
      </p:sp>
      <p:sp>
        <p:nvSpPr>
          <p:cNvPr id="3" name="Subtitle 2"/>
          <p:cNvSpPr>
            <a:spLocks noGrp="1"/>
          </p:cNvSpPr>
          <p:nvPr>
            <p:ph type="subTitle" idx="1"/>
          </p:nvPr>
        </p:nvSpPr>
        <p:spPr>
          <a:xfrm>
            <a:off x="1404938" y="3262313"/>
            <a:ext cx="9144000" cy="2232025"/>
          </a:xfrm>
        </p:spPr>
        <p:txBody>
          <a:bodyPr vert="horz" lIns="91440" tIns="45720" rIns="91440" bIns="45720" rtlCol="0">
            <a:normAutofit fontScale="70000" lnSpcReduction="20000"/>
          </a:body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By                                                                  		Guided by</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en-IN" sz="24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Kishore A</a:t>
            </a: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(312422205002</a:t>
            </a:r>
            <a:r>
              <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en-IN" sz="24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Dr. Mahalakshmi G</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en-IN" sz="24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Joseph Sundar Marshal F V</a:t>
            </a: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312423205092</a:t>
            </a: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Assistant Professor</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Date:</a:t>
            </a:r>
            <a:r>
              <a:rPr kumimoji="0" lang="en-US" alt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15</a:t>
            </a: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en-US" alt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en-I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/2026</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053" name="Picture 7"/>
          <p:cNvPicPr>
            <a:picLocks noChangeAspect="1"/>
          </p:cNvPicPr>
          <p:nvPr/>
        </p:nvPicPr>
        <p:blipFill>
          <a:blip r:embed="rId1"/>
          <a:stretch>
            <a:fillRect/>
          </a:stretch>
        </p:blipFill>
        <p:spPr>
          <a:xfrm>
            <a:off x="0" y="5676900"/>
            <a:ext cx="12192000" cy="1181100"/>
          </a:xfrm>
          <a:prstGeom prst="rect">
            <a:avLst/>
          </a:prstGeom>
          <a:noFill/>
          <a:ln w="9525">
            <a:noFill/>
          </a:ln>
        </p:spPr>
      </p:pic>
      <p:pic>
        <p:nvPicPr>
          <p:cNvPr id="2054" name="Picture 2"/>
          <p:cNvPicPr>
            <a:picLocks noChangeAspect="1"/>
          </p:cNvPicPr>
          <p:nvPr/>
        </p:nvPicPr>
        <p:blipFill>
          <a:blip r:embed="rId2"/>
          <a:stretch>
            <a:fillRect/>
          </a:stretch>
        </p:blipFill>
        <p:spPr>
          <a:xfrm>
            <a:off x="246063" y="0"/>
            <a:ext cx="11761787" cy="130175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Title 1"/>
          <p:cNvSpPr>
            <a:spLocks noGrp="1"/>
          </p:cNvSpPr>
          <p:nvPr>
            <p:ph type="title"/>
          </p:nvPr>
        </p:nvSpPr>
        <p:spPr>
          <a:xfrm>
            <a:off x="838200" y="989013"/>
            <a:ext cx="10515600" cy="1325562"/>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Abstract</a:t>
            </a:r>
            <a:endParaRPr lang="en-IN" altLang="x-none" dirty="0">
              <a:latin typeface="Times New Roman" panose="02020603050405020304" pitchFamily="18" charset="0"/>
              <a:ea typeface="Times New Roman" panose="02020603050405020304" pitchFamily="18" charset="0"/>
            </a:endParaRPr>
          </a:p>
        </p:txBody>
      </p:sp>
      <p:sp>
        <p:nvSpPr>
          <p:cNvPr id="4099" name="Content Placeholder 2"/>
          <p:cNvSpPr>
            <a:spLocks noGrp="1"/>
          </p:cNvSpPr>
          <p:nvPr>
            <p:ph idx="1"/>
          </p:nvPr>
        </p:nvSpPr>
        <p:spPr>
          <a:xfrm>
            <a:off x="838200" y="2006600"/>
            <a:ext cx="10515600" cy="4273550"/>
          </a:xfrm>
        </p:spPr>
        <p:txBody>
          <a:bodyPr vert="horz" wrap="square" lIns="91440" tIns="45720" rIns="91440" bIns="45720" anchor="t" anchorCtr="0"/>
          <a:p>
            <a:pPr algn="just"/>
            <a:r>
              <a:rPr lang="en-US" altLang="en-US" sz="1800" dirty="0"/>
              <a:t>Gold is a reliable investment asset, but forecasting its price is challenging due to market volatility and complex time-series patterns.</a:t>
            </a:r>
            <a:endParaRPr lang="en-US" altLang="en-US" sz="1800" dirty="0"/>
          </a:p>
          <a:p>
            <a:pPr algn="just"/>
            <a:r>
              <a:rPr lang="en-US" altLang="en-US" sz="1800" dirty="0"/>
              <a:t>This project proposes an advanced gold price forecasting system using an ensemble of Chronos-T5 and N-HiTS models to improve prediction accuracy and stability across multiple horizons, including next-day, next-week, and next-month forecasts.</a:t>
            </a:r>
            <a:endParaRPr lang="en-US" altLang="en-US" sz="1800" dirty="0"/>
          </a:p>
          <a:p>
            <a:pPr algn="just"/>
            <a:r>
              <a:rPr lang="en-US" altLang="en-US" sz="1800" dirty="0"/>
              <a:t>The system integrates data ingestion, preprocessing, feature engineering, model evaluation, and visualization into a complete end-to-end pipeline.</a:t>
            </a:r>
            <a:endParaRPr lang="en-US" altLang="en-US" sz="1800" dirty="0"/>
          </a:p>
          <a:p>
            <a:pPr algn="just"/>
            <a:r>
              <a:rPr lang="en-US" altLang="en-US" sz="1800" dirty="0"/>
              <a:t>SQLite is used for cost-effective local storage, and a Streamlit dashboard provides interactive forecasting and analysis for investors.</a:t>
            </a:r>
            <a:endParaRPr lang="en-US" altLang="en-US" sz="1800" dirty="0"/>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4101" name="Picture 2"/>
          <p:cNvPicPr>
            <a:picLocks noChangeAspect="1"/>
          </p:cNvPicPr>
          <p:nvPr/>
        </p:nvPicPr>
        <p:blipFill>
          <a:blip r:embed="rId1"/>
          <a:stretch>
            <a:fillRect/>
          </a:stretch>
        </p:blipFill>
        <p:spPr>
          <a:xfrm>
            <a:off x="201613" y="0"/>
            <a:ext cx="11761787" cy="1301750"/>
          </a:xfrm>
          <a:prstGeom prst="rect">
            <a:avLst/>
          </a:prstGeom>
          <a:noFill/>
          <a:ln w="9525">
            <a:noFill/>
          </a:ln>
        </p:spPr>
      </p:pic>
      <p:pic>
        <p:nvPicPr>
          <p:cNvPr id="13317" name="Picture 6"/>
          <p:cNvPicPr>
            <a:picLocks noChangeAspect="1"/>
          </p:cNvPicPr>
          <p:nvPr/>
        </p:nvPicPr>
        <p:blipFill>
          <a:blip r:embed="rId2"/>
          <a:stretch>
            <a:fillRect/>
          </a:stretch>
        </p:blipFill>
        <p:spPr>
          <a:xfrm>
            <a:off x="0" y="5676900"/>
            <a:ext cx="12192000" cy="11811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a:xfrm>
            <a:off x="855663" y="936625"/>
            <a:ext cx="10515600" cy="1325563"/>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Objective</a:t>
            </a:r>
            <a:endParaRPr lang="en-IN" altLang="x-none" dirty="0">
              <a:latin typeface="Times New Roman" panose="02020603050405020304" pitchFamily="18" charset="0"/>
              <a:ea typeface="Times New Roman" panose="02020603050405020304" pitchFamily="18" charset="0"/>
            </a:endParaRPr>
          </a:p>
        </p:txBody>
      </p:sp>
      <p:sp>
        <p:nvSpPr>
          <p:cNvPr id="3075" name="Content Placeholder 2"/>
          <p:cNvSpPr>
            <a:spLocks noGrp="1"/>
          </p:cNvSpPr>
          <p:nvPr>
            <p:ph idx="1"/>
          </p:nvPr>
        </p:nvSpPr>
        <p:spPr>
          <a:xfrm>
            <a:off x="838200" y="2416175"/>
            <a:ext cx="10515600" cy="4176713"/>
          </a:xfrm>
        </p:spPr>
        <p:txBody>
          <a:bodyPr vert="horz" wrap="square" lIns="91440" tIns="45720" rIns="91440" bIns="45720" anchor="t" anchorCtr="0"/>
          <a:p>
            <a:pPr marL="0" indent="0" algn="just"/>
            <a:r>
              <a:rPr lang="en-US" altLang="en-US" sz="2000" b="1" dirty="0">
                <a:latin typeface="Times New Roman" panose="02020603050405020304" pitchFamily="18" charset="0"/>
                <a:ea typeface="Times New Roman" panose="02020603050405020304" pitchFamily="18" charset="0"/>
              </a:rPr>
              <a:t>The objective of this project is to develop an investor-focused gold price forecasting system capable of predicting gold prices across multiple future horizons such as next day, next week, and next month with improved accuracy and stability.</a:t>
            </a:r>
            <a:endParaRPr lang="en-US" altLang="en-US" sz="2000" b="1" dirty="0">
              <a:latin typeface="Times New Roman" panose="02020603050405020304" pitchFamily="18" charset="0"/>
              <a:ea typeface="Times New Roman" panose="02020603050405020304" pitchFamily="18" charset="0"/>
            </a:endParaRPr>
          </a:p>
          <a:p>
            <a:pPr marL="0" indent="0" algn="just"/>
            <a:r>
              <a:rPr lang="en-US" altLang="en-US" sz="2000" b="1" dirty="0">
                <a:latin typeface="Times New Roman" panose="02020603050405020304" pitchFamily="18" charset="0"/>
                <a:ea typeface="Times New Roman" panose="02020603050405020304" pitchFamily="18" charset="0"/>
              </a:rPr>
              <a:t>The project uses advanced time-series forecasting models, namely Chronos-T5 and N-HiTS, combined through an ensemble approach to overcome the limitations of traditional machine learning models.</a:t>
            </a:r>
            <a:endParaRPr lang="en-US" altLang="en-US" sz="2000" b="1" dirty="0">
              <a:latin typeface="Times New Roman" panose="02020603050405020304" pitchFamily="18" charset="0"/>
              <a:ea typeface="Times New Roman" panose="02020603050405020304" pitchFamily="18" charset="0"/>
            </a:endParaRPr>
          </a:p>
          <a:p>
            <a:pPr marL="0" indent="0" algn="just"/>
            <a:r>
              <a:rPr lang="en-US" altLang="en-US" sz="2000" b="1" dirty="0">
                <a:latin typeface="Times New Roman" panose="02020603050405020304" pitchFamily="18" charset="0"/>
                <a:ea typeface="Times New Roman" panose="02020603050405020304" pitchFamily="18" charset="0"/>
              </a:rPr>
              <a:t>It also aims to provide an interactive and production-ready dashboard for visualization, analysis, and decision-making using automated data pipelines and real-time forecasting techniques.</a:t>
            </a:r>
            <a:endParaRPr lang="en-US" altLang="en-US" sz="2000" b="1"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3077" name="Picture 7"/>
          <p:cNvPicPr>
            <a:picLocks noChangeAspect="1"/>
          </p:cNvPicPr>
          <p:nvPr/>
        </p:nvPicPr>
        <p:blipFill>
          <a:blip r:embed="rId1"/>
          <a:stretch>
            <a:fillRect/>
          </a:stretch>
        </p:blipFill>
        <p:spPr>
          <a:xfrm>
            <a:off x="0" y="5676900"/>
            <a:ext cx="12192635" cy="1181100"/>
          </a:xfrm>
          <a:prstGeom prst="rect">
            <a:avLst/>
          </a:prstGeom>
          <a:noFill/>
          <a:ln w="9525">
            <a:noFill/>
          </a:ln>
        </p:spPr>
      </p:pic>
      <p:pic>
        <p:nvPicPr>
          <p:cNvPr id="3078" name="Picture 2"/>
          <p:cNvPicPr>
            <a:picLocks noChangeAspect="1"/>
          </p:cNvPicPr>
          <p:nvPr/>
        </p:nvPicPr>
        <p:blipFill>
          <a:blip r:embed="rId2"/>
          <a:stretch>
            <a:fillRect/>
          </a:stretch>
        </p:blipFill>
        <p:spPr>
          <a:xfrm>
            <a:off x="298450" y="0"/>
            <a:ext cx="11761788" cy="130175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a:xfrm>
            <a:off x="797878" y="1010920"/>
            <a:ext cx="10515600" cy="1325563"/>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Problem Statement</a:t>
            </a:r>
            <a:endParaRPr lang="en-IN" altLang="x-none" dirty="0">
              <a:latin typeface="Times New Roman" panose="02020603050405020304" pitchFamily="18" charset="0"/>
              <a:ea typeface="Times New Roman" panose="02020603050405020304" pitchFamily="18" charset="0"/>
            </a:endParaRPr>
          </a:p>
        </p:txBody>
      </p:sp>
      <p:sp>
        <p:nvSpPr>
          <p:cNvPr id="3075" name="Content Placeholder 2"/>
          <p:cNvSpPr>
            <a:spLocks noGrp="1"/>
          </p:cNvSpPr>
          <p:nvPr>
            <p:ph idx="1"/>
          </p:nvPr>
        </p:nvSpPr>
        <p:spPr>
          <a:xfrm>
            <a:off x="838200" y="2061210"/>
            <a:ext cx="10515600" cy="4176713"/>
          </a:xfrm>
        </p:spPr>
        <p:txBody>
          <a:bodyPr vert="horz" wrap="square" lIns="91440" tIns="45720" rIns="91440" bIns="45720" anchor="t" anchorCtr="0"/>
          <a:p>
            <a:pPr marL="0" indent="0" algn="just"/>
            <a:r>
              <a:rPr lang="en-US" altLang="en-US" sz="1700" b="1" dirty="0">
                <a:latin typeface="Times New Roman" panose="02020603050405020304" pitchFamily="18" charset="0"/>
                <a:ea typeface="Times New Roman" panose="02020603050405020304" pitchFamily="18" charset="0"/>
              </a:rPr>
              <a:t>Volatile, multi-driver market: </a:t>
            </a:r>
            <a:r>
              <a:rPr lang="en-US" altLang="en-US" sz="1700" dirty="0">
                <a:latin typeface="Times New Roman" panose="02020603050405020304" pitchFamily="18" charset="0"/>
                <a:ea typeface="Times New Roman" panose="02020603050405020304" pitchFamily="18" charset="0"/>
              </a:rPr>
              <a:t>Gold prices react to currency moves, geopolitics, inflation, and demand–supply shifts, making simple heuristics unreliable.</a:t>
            </a:r>
            <a:endParaRPr lang="en-US" altLang="en-US" sz="1700" dirty="0">
              <a:latin typeface="Times New Roman" panose="02020603050405020304" pitchFamily="18" charset="0"/>
              <a:ea typeface="Times New Roman" panose="02020603050405020304" pitchFamily="18" charset="0"/>
            </a:endParaRPr>
          </a:p>
          <a:p>
            <a:pPr marL="0" indent="0" algn="just"/>
            <a:r>
              <a:rPr lang="en-US" altLang="en-US" sz="1700" b="1" dirty="0">
                <a:latin typeface="Times New Roman" panose="02020603050405020304" pitchFamily="18" charset="0"/>
                <a:ea typeface="Times New Roman" panose="02020603050405020304" pitchFamily="18" charset="0"/>
              </a:rPr>
              <a:t>Retail access gap: </a:t>
            </a:r>
            <a:r>
              <a:rPr lang="en-US" altLang="en-US" sz="1700" dirty="0">
                <a:latin typeface="Times New Roman" panose="02020603050405020304" pitchFamily="18" charset="0"/>
                <a:ea typeface="Times New Roman" panose="02020603050405020304" pitchFamily="18" charset="0"/>
              </a:rPr>
              <a:t>Advanced, data-driven forecasting is mostly institutional; individual investors lack affordable, user-friendly tools.</a:t>
            </a:r>
            <a:endParaRPr lang="en-US" altLang="en-US" sz="1700" b="1" dirty="0">
              <a:latin typeface="Times New Roman" panose="02020603050405020304" pitchFamily="18" charset="0"/>
              <a:ea typeface="Times New Roman" panose="02020603050405020304" pitchFamily="18" charset="0"/>
            </a:endParaRPr>
          </a:p>
          <a:p>
            <a:pPr marL="0" indent="0" algn="just"/>
            <a:r>
              <a:rPr lang="en-US" altLang="en-US" sz="1700" b="1" dirty="0">
                <a:latin typeface="Times New Roman" panose="02020603050405020304" pitchFamily="18" charset="0"/>
                <a:ea typeface="Times New Roman" panose="02020603050405020304" pitchFamily="18" charset="0"/>
              </a:rPr>
              <a:t>Weak traditional models: </a:t>
            </a:r>
            <a:r>
              <a:rPr lang="en-US" altLang="en-US" sz="1700" dirty="0">
                <a:latin typeface="Times New Roman" panose="02020603050405020304" pitchFamily="18" charset="0"/>
                <a:ea typeface="Times New Roman" panose="02020603050405020304" pitchFamily="18" charset="0"/>
              </a:rPr>
              <a:t>ARIMA and standalone LSTM often overfit, struggle with regime changes, and need heavy manual feature engineering.</a:t>
            </a:r>
            <a:endParaRPr lang="en-US" altLang="en-US" sz="1700" dirty="0">
              <a:latin typeface="Times New Roman" panose="02020603050405020304" pitchFamily="18" charset="0"/>
              <a:ea typeface="Times New Roman" panose="02020603050405020304" pitchFamily="18" charset="0"/>
            </a:endParaRPr>
          </a:p>
          <a:p>
            <a:pPr marL="0" indent="0" algn="just"/>
            <a:r>
              <a:rPr lang="en-US" altLang="en-US" sz="1700" b="1" dirty="0">
                <a:latin typeface="Times New Roman" panose="02020603050405020304" pitchFamily="18" charset="0"/>
                <a:ea typeface="Times New Roman" panose="02020603050405020304" pitchFamily="18" charset="0"/>
              </a:rPr>
              <a:t>Single-horizon focus: </a:t>
            </a:r>
            <a:r>
              <a:rPr lang="en-US" altLang="en-US" sz="1700" dirty="0">
                <a:latin typeface="Times New Roman" panose="02020603050405020304" pitchFamily="18" charset="0"/>
                <a:ea typeface="Times New Roman" panose="02020603050405020304" pitchFamily="18" charset="0"/>
              </a:rPr>
              <a:t>Most tools target short-term only, leaving medium/long-term (weeks to years) planning unsupported.</a:t>
            </a:r>
            <a:endParaRPr lang="en-US" altLang="en-US" sz="1700" dirty="0">
              <a:latin typeface="Times New Roman" panose="02020603050405020304" pitchFamily="18" charset="0"/>
              <a:ea typeface="Times New Roman" panose="02020603050405020304" pitchFamily="18" charset="0"/>
            </a:endParaRPr>
          </a:p>
          <a:p>
            <a:pPr marL="0" indent="0" algn="just"/>
            <a:r>
              <a:rPr lang="en-US" altLang="en-US" sz="1700" b="1" dirty="0">
                <a:latin typeface="Times New Roman" panose="02020603050405020304" pitchFamily="18" charset="0"/>
                <a:ea typeface="Times New Roman" panose="02020603050405020304" pitchFamily="18" charset="0"/>
              </a:rPr>
              <a:t>Not investor-ready: </a:t>
            </a:r>
            <a:r>
              <a:rPr lang="en-US" altLang="en-US" sz="1700" dirty="0">
                <a:latin typeface="Times New Roman" panose="02020603050405020304" pitchFamily="18" charset="0"/>
                <a:ea typeface="Times New Roman" panose="02020603050405020304" pitchFamily="18" charset="0"/>
              </a:rPr>
              <a:t>Outputs are statistical, not actionable (e.g., no custom weight-based cost estimates or USD→INR conversions).</a:t>
            </a:r>
            <a:endParaRPr lang="en-US" altLang="en-US" sz="1700" dirty="0">
              <a:latin typeface="Times New Roman" panose="02020603050405020304" pitchFamily="18" charset="0"/>
              <a:ea typeface="Times New Roman" panose="02020603050405020304" pitchFamily="18" charset="0"/>
            </a:endParaRPr>
          </a:p>
          <a:p>
            <a:pPr marL="0" indent="0" algn="just"/>
            <a:r>
              <a:rPr lang="en-US" altLang="en-US" sz="1700" b="1" dirty="0">
                <a:latin typeface="Times New Roman" panose="02020603050405020304" pitchFamily="18" charset="0"/>
                <a:ea typeface="Times New Roman" panose="02020603050405020304" pitchFamily="18" charset="0"/>
              </a:rPr>
              <a:t>High deployment cost: </a:t>
            </a:r>
            <a:r>
              <a:rPr lang="en-US" altLang="en-US" sz="1700" dirty="0">
                <a:latin typeface="Times New Roman" panose="02020603050405020304" pitchFamily="18" charset="0"/>
                <a:ea typeface="Times New Roman" panose="02020603050405020304" pitchFamily="18" charset="0"/>
              </a:rPr>
              <a:t>Reliable, continuously updating systems usually require expensive cloud infrastructure, blocking small-scale users.</a:t>
            </a:r>
            <a:endParaRPr lang="en-US" altLang="en-US" sz="1700" dirty="0">
              <a:latin typeface="Times New Roman" panose="02020603050405020304" pitchFamily="18" charset="0"/>
              <a:ea typeface="Times New Roman" panose="02020603050405020304" pitchFamily="18" charset="0"/>
            </a:endParaRPr>
          </a:p>
          <a:p>
            <a:pPr marL="0" indent="0" algn="just"/>
            <a:endParaRPr lang="en-US" altLang="en-US" sz="1700"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3077" name="Picture 7"/>
          <p:cNvPicPr>
            <a:picLocks noChangeAspect="1"/>
          </p:cNvPicPr>
          <p:nvPr/>
        </p:nvPicPr>
        <p:blipFill>
          <a:blip r:embed="rId1"/>
          <a:stretch>
            <a:fillRect/>
          </a:stretch>
        </p:blipFill>
        <p:spPr>
          <a:xfrm>
            <a:off x="0" y="5676900"/>
            <a:ext cx="12192635" cy="1181100"/>
          </a:xfrm>
          <a:prstGeom prst="rect">
            <a:avLst/>
          </a:prstGeom>
          <a:noFill/>
          <a:ln w="9525">
            <a:noFill/>
          </a:ln>
        </p:spPr>
      </p:pic>
      <p:pic>
        <p:nvPicPr>
          <p:cNvPr id="3078" name="Picture 2"/>
          <p:cNvPicPr>
            <a:picLocks noChangeAspect="1"/>
          </p:cNvPicPr>
          <p:nvPr/>
        </p:nvPicPr>
        <p:blipFill>
          <a:blip r:embed="rId2"/>
          <a:stretch>
            <a:fillRect/>
          </a:stretch>
        </p:blipFill>
        <p:spPr>
          <a:xfrm>
            <a:off x="298450" y="0"/>
            <a:ext cx="11761788" cy="13017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2250" y="1104900"/>
            <a:ext cx="10515600" cy="72707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br>
            <a: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Literature </a:t>
            </a:r>
            <a: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Survey</a:t>
            </a:r>
            <a:endPar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3" name="Table 4"/>
          <p:cNvGraphicFramePr>
            <a:graphicFrameLocks noGrp="1"/>
          </p:cNvGraphicFramePr>
          <p:nvPr/>
        </p:nvGraphicFramePr>
        <p:xfrm>
          <a:off x="139700" y="2146300"/>
          <a:ext cx="11913235" cy="3330575"/>
        </p:xfrm>
        <a:graphic>
          <a:graphicData uri="http://schemas.openxmlformats.org/drawingml/2006/table">
            <a:tbl>
              <a:tblPr firstRow="1" bandRow="1">
                <a:tableStyleId>{073A0DAA-6AF3-43AB-8588-CEC1D06C72B9}</a:tableStyleId>
              </a:tblPr>
              <a:tblGrid>
                <a:gridCol w="672861"/>
                <a:gridCol w="3027871"/>
                <a:gridCol w="1811547"/>
                <a:gridCol w="3260785"/>
                <a:gridCol w="3140015"/>
              </a:tblGrid>
              <a:tr h="322126">
                <a:tc>
                  <a:txBody>
                    <a:bodyPr/>
                    <a:lstStyle/>
                    <a:p>
                      <a:pPr algn="ctr"/>
                      <a:r>
                        <a:rPr lang="en-IN"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Title, Author, 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Technique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Remarks</a:t>
                      </a:r>
                      <a:endParaRPr lang="en-IN" dirty="0">
                        <a:latin typeface="Times New Roman" panose="02020603050405020304" pitchFamily="18" charset="0"/>
                        <a:cs typeface="Times New Roman" panose="02020603050405020304" pitchFamily="18" charset="0"/>
                      </a:endParaRPr>
                    </a:p>
                  </a:txBody>
                  <a:tcPr/>
                </a:tc>
              </a:tr>
              <a:tr h="1273175">
                <a:tc>
                  <a:txBody>
                    <a:bodyPr/>
                    <a:lstStyle/>
                    <a:p>
                      <a:r>
                        <a:rPr lang="en-IN" dirty="0"/>
                        <a:t>1</a:t>
                      </a:r>
                      <a:endParaRPr lang="en-IN" dirty="0"/>
                    </a:p>
                  </a:txBody>
                  <a:tcPr/>
                </a:tc>
                <a:tc>
                  <a:txBody>
                    <a:bodyPr/>
                    <a:lstStyle/>
                    <a:p>
                      <a:pPr algn="just"/>
                      <a:r>
                        <a:rPr lang="en-US" altLang="en-US" sz="1800" dirty="0">
                          <a:effectLst/>
                          <a:sym typeface="+mn-ea"/>
                        </a:rPr>
                        <a:t>Chronos: Learning the Language of Time Series — M. Ansari et al., 2024</a:t>
                      </a:r>
                      <a:endParaRPr lang="en-US" altLang="en-IN" sz="1800" b="0" i="0" kern="1200" dirty="0">
                        <a:solidFill>
                          <a:schemeClr val="dk1"/>
                        </a:solidFill>
                        <a:effectLst/>
                        <a:latin typeface="+mn-lt"/>
                        <a:ea typeface="+mn-ea"/>
                        <a:cs typeface="+mn-cs"/>
                      </a:endParaRPr>
                    </a:p>
                  </a:txBody>
                  <a:tcPr/>
                </a:tc>
                <a:tc>
                  <a:txBody>
                    <a:bodyPr/>
                    <a:lstStyle/>
                    <a:p>
                      <a:pPr algn="l"/>
                      <a:r>
                        <a:rPr lang="en-US" altLang="en-US" dirty="0"/>
                        <a:t>Chronos-T5 Foundation Model</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Introduced a pretrained transformer-based foundation model for accurate multi-horizon time-series forecasting.</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Highly scalable and inspired the forecasting architecture used in this project.</a:t>
                      </a:r>
                      <a:endParaRPr lang="en-US" altLang="en-US" dirty="0"/>
                    </a:p>
                  </a:txBody>
                  <a:tcPr/>
                </a:tc>
              </a:tr>
              <a:tr h="1417320">
                <a:tc>
                  <a:txBody>
                    <a:bodyPr/>
                    <a:lstStyle/>
                    <a:p>
                      <a:r>
                        <a:rPr lang="en-US" dirty="0"/>
                        <a:t>2</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N-HiTS: Neural Hierarchical Interpolation for Time Series Forecasting — C. Challu et al., 2022</a:t>
                      </a:r>
                      <a:endParaRPr lang="en-US" altLang="en-US" sz="1800" b="0" i="0" kern="1200" dirty="0">
                        <a:solidFill>
                          <a:schemeClr val="dk1"/>
                        </a:solidFill>
                        <a:effectLst/>
                        <a:latin typeface="+mn-lt"/>
                        <a:ea typeface="+mn-ea"/>
                        <a:cs typeface="+mn-cs"/>
                      </a:endParaRPr>
                    </a:p>
                  </a:txBody>
                  <a:tcPr/>
                </a:tc>
                <a:tc>
                  <a:txBody>
                    <a:bodyPr/>
                    <a:lstStyle/>
                    <a:p>
                      <a:r>
                        <a:rPr lang="en-US" altLang="en-US" dirty="0"/>
                        <a:t>N-HiTS Deep Learning Model</a:t>
                      </a:r>
                      <a:endParaRPr lang="en-US" altLang="en-US" dirty="0"/>
                    </a:p>
                  </a:txBody>
                  <a:tcPr/>
                </a:tc>
                <a:tc>
                  <a:txBody>
                    <a:bodyPr/>
                    <a:lstStyle/>
                    <a:p>
                      <a:pPr algn="just"/>
                      <a:r>
                        <a:rPr lang="en-US" altLang="en-US" dirty="0"/>
                        <a:t>Proposed a hierarchical interpolation-based deep forecasting architecture for long-term time-series prediction.</a:t>
                      </a:r>
                      <a:endParaRPr lang="en-US" altLang="en-US" dirty="0"/>
                    </a:p>
                  </a:txBody>
                  <a:tcPr/>
                </a:tc>
                <a:tc>
                  <a:txBody>
                    <a:bodyPr/>
                    <a:lstStyle/>
                    <a:p>
                      <a:pPr algn="just"/>
                      <a:r>
                        <a:rPr lang="en-US" altLang="en-US" dirty="0"/>
                        <a:t>Provides strong performance for trend and seasonality forecasting.</a:t>
                      </a:r>
                      <a:endParaRPr lang="en-US" altLang="en-US" dirty="0"/>
                    </a:p>
                  </a:txBody>
                  <a:tcPr/>
                </a:tc>
              </a:tr>
            </a:tbl>
          </a:graphicData>
        </a:graphic>
      </p:graphicFrame>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0246" name="Picture 2"/>
          <p:cNvPicPr>
            <a:picLocks noChangeAspect="1"/>
          </p:cNvPicPr>
          <p:nvPr/>
        </p:nvPicPr>
        <p:blipFill>
          <a:blip r:embed="rId1"/>
          <a:stretch>
            <a:fillRect/>
          </a:stretch>
        </p:blipFill>
        <p:spPr>
          <a:xfrm>
            <a:off x="149225" y="0"/>
            <a:ext cx="11761788" cy="1301750"/>
          </a:xfrm>
          <a:prstGeom prst="rect">
            <a:avLst/>
          </a:prstGeom>
          <a:noFill/>
          <a:ln w="9525">
            <a:noFill/>
          </a:ln>
        </p:spPr>
      </p:pic>
      <p:pic>
        <p:nvPicPr>
          <p:cNvPr id="13317" name="Picture 6"/>
          <p:cNvPicPr>
            <a:picLocks noChangeAspect="1"/>
          </p:cNvPicPr>
          <p:nvPr/>
        </p:nvPicPr>
        <p:blipFill>
          <a:blip r:embed="rId2"/>
          <a:stretch>
            <a:fillRect/>
          </a:stretch>
        </p:blipFill>
        <p:spPr>
          <a:xfrm>
            <a:off x="0" y="5676900"/>
            <a:ext cx="12192000" cy="11811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4"/>
          <p:cNvGraphicFramePr>
            <a:graphicFrameLocks noGrp="1"/>
          </p:cNvGraphicFramePr>
          <p:nvPr/>
        </p:nvGraphicFramePr>
        <p:xfrm>
          <a:off x="139700" y="1844675"/>
          <a:ext cx="11913235" cy="3519805"/>
        </p:xfrm>
        <a:graphic>
          <a:graphicData uri="http://schemas.openxmlformats.org/drawingml/2006/table">
            <a:tbl>
              <a:tblPr firstRow="1" bandRow="1">
                <a:tableStyleId>{073A0DAA-6AF3-43AB-8588-CEC1D06C72B9}</a:tableStyleId>
              </a:tblPr>
              <a:tblGrid>
                <a:gridCol w="672861"/>
                <a:gridCol w="3027871"/>
                <a:gridCol w="1811547"/>
                <a:gridCol w="3260785"/>
                <a:gridCol w="3140015"/>
              </a:tblGrid>
              <a:tr h="442042">
                <a:tc>
                  <a:txBody>
                    <a:bodyPr/>
                    <a:lstStyle/>
                    <a:p>
                      <a:pPr algn="ctr"/>
                      <a:r>
                        <a:rPr lang="en-IN"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Title, Author, 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Technique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Remarks</a:t>
                      </a:r>
                      <a:endParaRPr lang="en-IN" dirty="0">
                        <a:latin typeface="Times New Roman" panose="02020603050405020304" pitchFamily="18" charset="0"/>
                        <a:cs typeface="Times New Roman" panose="02020603050405020304" pitchFamily="18" charset="0"/>
                      </a:endParaRPr>
                    </a:p>
                  </a:txBody>
                  <a:tcPr/>
                </a:tc>
              </a:tr>
              <a:tr h="1425575">
                <a:tc>
                  <a:txBody>
                    <a:bodyPr/>
                    <a:lstStyle/>
                    <a:p>
                      <a:r>
                        <a:rPr lang="en-IN" dirty="0"/>
                        <a:t>3</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Forecasting: Principles and Practice — R. J. Hyndman &amp; G. Athanasopoulos, 2021</a:t>
                      </a:r>
                      <a:endParaRPr lang="en-US" altLang="en-US" sz="1800" b="0" i="0" kern="1200" dirty="0">
                        <a:solidFill>
                          <a:schemeClr val="dk1"/>
                        </a:solidFill>
                        <a:effectLst/>
                        <a:latin typeface="+mn-lt"/>
                        <a:ea typeface="+mn-ea"/>
                        <a:cs typeface="+mn-cs"/>
                      </a:endParaRPr>
                    </a:p>
                  </a:txBody>
                  <a:tcPr/>
                </a:tc>
                <a:tc>
                  <a:txBody>
                    <a:bodyPr/>
                    <a:lstStyle/>
                    <a:p>
                      <a:r>
                        <a:rPr lang="en-US" altLang="en-US" dirty="0"/>
                        <a:t>Statistical Forecasting</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Explained core forecasting principles, evaluation metrics, and forecasting methodologies.</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Widely used foundational reference for time-series analysis.</a:t>
                      </a:r>
                      <a:endParaRPr lang="en-US" altLang="en-US" dirty="0"/>
                    </a:p>
                  </a:txBody>
                  <a:tcPr/>
                </a:tc>
              </a:tr>
              <a:tr h="1454150">
                <a:tc>
                  <a:txBody>
                    <a:bodyPr/>
                    <a:lstStyle/>
                    <a:p>
                      <a:pPr algn="just"/>
                      <a:r>
                        <a:rPr lang="en-US" dirty="0"/>
                        <a:t>4</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Forecasting with Artificial Neural Networks: The State of the Art — G. Zhang et al., 2003</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Artificial Neural Networks (ANN)</a:t>
                      </a:r>
                      <a:endParaRPr lang="en-US" altLang="en-US" dirty="0"/>
                    </a:p>
                  </a:txBody>
                  <a:tcPr/>
                </a:tc>
                <a:tc>
                  <a:txBody>
                    <a:bodyPr/>
                    <a:lstStyle/>
                    <a:p>
                      <a:pPr algn="just"/>
                      <a:r>
                        <a:rPr lang="en-US" altLang="en-US" dirty="0"/>
                        <a:t>Reviewed the application of ANN models in forecasting and compared them with statistical approaches.</a:t>
                      </a:r>
                      <a:endParaRPr lang="en-US" altLang="en-US" dirty="0"/>
                    </a:p>
                  </a:txBody>
                  <a:tcPr/>
                </a:tc>
                <a:tc>
                  <a:txBody>
                    <a:bodyPr/>
                    <a:lstStyle/>
                    <a:p>
                      <a:pPr algn="just"/>
                      <a:r>
                        <a:rPr lang="en-US" altLang="en-US" dirty="0"/>
                        <a:t>Demonstrated the potential of neural networks in prediction tasks.</a:t>
                      </a:r>
                      <a:endParaRPr lang="en-US" altLang="en-US" dirty="0"/>
                    </a:p>
                  </a:txBody>
                  <a:tcPr/>
                </a:tc>
              </a:tr>
            </a:tbl>
          </a:graphicData>
        </a:graphic>
      </p:graphicFrame>
      <p:sp>
        <p:nvSpPr>
          <p:cNvPr id="2" name="Slide Number Placeholder 1"/>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0246" name="Picture 2"/>
          <p:cNvPicPr>
            <a:picLocks noChangeAspect="1"/>
          </p:cNvPicPr>
          <p:nvPr/>
        </p:nvPicPr>
        <p:blipFill>
          <a:blip r:embed="rId1"/>
          <a:stretch>
            <a:fillRect/>
          </a:stretch>
        </p:blipFill>
        <p:spPr>
          <a:xfrm>
            <a:off x="149225" y="0"/>
            <a:ext cx="11761788" cy="1301750"/>
          </a:xfrm>
          <a:prstGeom prst="rect">
            <a:avLst/>
          </a:prstGeom>
          <a:noFill/>
          <a:ln w="9525">
            <a:noFill/>
          </a:ln>
        </p:spPr>
      </p:pic>
      <p:pic>
        <p:nvPicPr>
          <p:cNvPr id="13317" name="Picture 6"/>
          <p:cNvPicPr>
            <a:picLocks noChangeAspect="1"/>
          </p:cNvPicPr>
          <p:nvPr/>
        </p:nvPicPr>
        <p:blipFill>
          <a:blip r:embed="rId2"/>
          <a:stretch>
            <a:fillRect/>
          </a:stretch>
        </p:blipFill>
        <p:spPr>
          <a:xfrm>
            <a:off x="0" y="5676900"/>
            <a:ext cx="12192635" cy="11811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4"/>
          <p:cNvGraphicFramePr>
            <a:graphicFrameLocks noGrp="1"/>
          </p:cNvGraphicFramePr>
          <p:nvPr/>
        </p:nvGraphicFramePr>
        <p:xfrm>
          <a:off x="156210" y="1614805"/>
          <a:ext cx="11896725" cy="3769360"/>
        </p:xfrm>
        <a:graphic>
          <a:graphicData uri="http://schemas.openxmlformats.org/drawingml/2006/table">
            <a:tbl>
              <a:tblPr firstRow="1" bandRow="1">
                <a:tableStyleId>{073A0DAA-6AF3-43AB-8588-CEC1D06C72B9}</a:tableStyleId>
              </a:tblPr>
              <a:tblGrid>
                <a:gridCol w="656590"/>
                <a:gridCol w="3027680"/>
                <a:gridCol w="1811655"/>
                <a:gridCol w="3260725"/>
                <a:gridCol w="3140075"/>
              </a:tblGrid>
              <a:tr h="768985">
                <a:tc>
                  <a:txBody>
                    <a:bodyPr/>
                    <a:lstStyle/>
                    <a:p>
                      <a:r>
                        <a:rPr lang="en-IN"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Title, Author, Year</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Technique used</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Remarks</a:t>
                      </a:r>
                      <a:endParaRPr lang="en-IN" dirty="0">
                        <a:latin typeface="Times New Roman" panose="02020603050405020304" pitchFamily="18" charset="0"/>
                        <a:cs typeface="Times New Roman" panose="02020603050405020304" pitchFamily="18" charset="0"/>
                      </a:endParaRPr>
                    </a:p>
                  </a:txBody>
                  <a:tcPr/>
                </a:tc>
              </a:tr>
              <a:tr h="1256030">
                <a:tc>
                  <a:txBody>
                    <a:bodyPr/>
                    <a:lstStyle/>
                    <a:p>
                      <a:pPr algn="just"/>
                      <a:r>
                        <a:rPr lang="en-IN" dirty="0"/>
                        <a:t>5</a:t>
                      </a:r>
                      <a:endParaRPr lang="en-IN" dirty="0"/>
                    </a:p>
                  </a:txBody>
                  <a:tcPr/>
                </a:tc>
                <a:tc>
                  <a:txBody>
                    <a:bodyPr/>
                    <a:lstStyle/>
                    <a:p>
                      <a:pPr algn="just"/>
                      <a:r>
                        <a:rPr lang="en-US" altLang="en-US" sz="1800" b="0" i="0" kern="1200" dirty="0">
                          <a:solidFill>
                            <a:schemeClr val="dk1"/>
                          </a:solidFill>
                          <a:effectLst/>
                          <a:latin typeface="+mn-lt"/>
                          <a:ea typeface="+mn-ea"/>
                          <a:cs typeface="+mn-cs"/>
                        </a:rPr>
                        <a:t>Long Short-Term Memory — S. Hochreiter &amp; J. Schmidhuber, 1997</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LSTM Neural Network</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Introduced LSTM architecture to solve long-term dependency issues in sequential data.</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Became a foundational model for deep time-series forecasting.</a:t>
                      </a:r>
                      <a:endParaRPr lang="en-US" altLang="en-US" dirty="0"/>
                    </a:p>
                  </a:txBody>
                  <a:tcPr/>
                </a:tc>
              </a:tr>
              <a:tr h="1744345">
                <a:tc>
                  <a:txBody>
                    <a:bodyPr/>
                    <a:lstStyle/>
                    <a:p>
                      <a:pPr algn="just"/>
                      <a:r>
                        <a:rPr lang="en-US" dirty="0"/>
                        <a:t>6</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Conditional Time Series Forecasting with Convolutional Neural Networks — A. Borovykh et al., 2017</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CNN-based Forecasting</a:t>
                      </a:r>
                      <a:endParaRPr lang="en-US" altLang="en-US" dirty="0"/>
                    </a:p>
                  </a:txBody>
                  <a:tcPr/>
                </a:tc>
                <a:tc>
                  <a:txBody>
                    <a:bodyPr/>
                    <a:lstStyle/>
                    <a:p>
                      <a:pPr algn="just"/>
                      <a:r>
                        <a:rPr lang="en-US" altLang="en-US" dirty="0"/>
                        <a:t>Applied convolutional neural networks for conditional time-series forecasting tasks.</a:t>
                      </a:r>
                      <a:endParaRPr lang="en-US" altLang="en-US" dirty="0"/>
                    </a:p>
                  </a:txBody>
                  <a:tcPr/>
                </a:tc>
                <a:tc>
                  <a:txBody>
                    <a:bodyPr/>
                    <a:lstStyle/>
                    <a:p>
                      <a:pPr algn="just"/>
                      <a:r>
                        <a:rPr lang="en-US" altLang="en-US" dirty="0"/>
                        <a:t>Showed CNN effectiveness in financial and sequential forecasting.</a:t>
                      </a:r>
                      <a:endParaRPr lang="en-US" altLang="en-US" dirty="0"/>
                    </a:p>
                  </a:txBody>
                  <a:tcPr/>
                </a:tc>
              </a:tr>
            </a:tbl>
          </a:graphicData>
        </a:graphic>
      </p:graphicFrame>
      <p:sp>
        <p:nvSpPr>
          <p:cNvPr id="2" name="Slide Number Placeholder 1"/>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0246" name="Picture 2"/>
          <p:cNvPicPr>
            <a:picLocks noChangeAspect="1"/>
          </p:cNvPicPr>
          <p:nvPr/>
        </p:nvPicPr>
        <p:blipFill>
          <a:blip r:embed="rId1"/>
          <a:stretch>
            <a:fillRect/>
          </a:stretch>
        </p:blipFill>
        <p:spPr>
          <a:xfrm>
            <a:off x="149225" y="0"/>
            <a:ext cx="11761788" cy="1301750"/>
          </a:xfrm>
          <a:prstGeom prst="rect">
            <a:avLst/>
          </a:prstGeom>
          <a:noFill/>
          <a:ln w="9525">
            <a:noFill/>
          </a:ln>
        </p:spPr>
      </p:pic>
      <p:pic>
        <p:nvPicPr>
          <p:cNvPr id="13317" name="Picture 6"/>
          <p:cNvPicPr>
            <a:picLocks noChangeAspect="1"/>
          </p:cNvPicPr>
          <p:nvPr/>
        </p:nvPicPr>
        <p:blipFill>
          <a:blip r:embed="rId2"/>
          <a:stretch>
            <a:fillRect/>
          </a:stretch>
        </p:blipFill>
        <p:spPr>
          <a:xfrm>
            <a:off x="0" y="5676900"/>
            <a:ext cx="12192000" cy="118110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4"/>
          <p:cNvGraphicFramePr>
            <a:graphicFrameLocks noGrp="1"/>
          </p:cNvGraphicFramePr>
          <p:nvPr/>
        </p:nvGraphicFramePr>
        <p:xfrm>
          <a:off x="139700" y="1573530"/>
          <a:ext cx="11913235" cy="3919220"/>
        </p:xfrm>
        <a:graphic>
          <a:graphicData uri="http://schemas.openxmlformats.org/drawingml/2006/table">
            <a:tbl>
              <a:tblPr firstRow="1" bandRow="1">
                <a:tableStyleId>{073A0DAA-6AF3-43AB-8588-CEC1D06C72B9}</a:tableStyleId>
              </a:tblPr>
              <a:tblGrid>
                <a:gridCol w="673100"/>
                <a:gridCol w="3027680"/>
                <a:gridCol w="1811655"/>
                <a:gridCol w="3260725"/>
                <a:gridCol w="3140075"/>
              </a:tblGrid>
              <a:tr h="640080">
                <a:tc>
                  <a:txBody>
                    <a:bodyPr/>
                    <a:lstStyle/>
                    <a:p>
                      <a:pPr algn="ctr"/>
                      <a:r>
                        <a:rPr lang="en-IN"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Title, Author, 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Technique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Remarks</a:t>
                      </a:r>
                      <a:endParaRPr lang="en-IN" dirty="0">
                        <a:latin typeface="Times New Roman" panose="02020603050405020304" pitchFamily="18" charset="0"/>
                        <a:cs typeface="Times New Roman" panose="02020603050405020304" pitchFamily="18" charset="0"/>
                      </a:endParaRPr>
                    </a:p>
                  </a:txBody>
                  <a:tcPr/>
                </a:tc>
              </a:tr>
              <a:tr h="1589405">
                <a:tc>
                  <a:txBody>
                    <a:bodyPr/>
                    <a:lstStyle/>
                    <a:p>
                      <a:pPr algn="just"/>
                      <a:r>
                        <a:rPr lang="en-IN" dirty="0"/>
                        <a:t>7</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Horses for Courses in Demand Forecasting — F. Petropoulos et al., 2014</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Comparative Forecasting Methods</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Compared multiple forecasting methods across different forecasting scenarios.</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Highlighted that no single model performs best in all situations.</a:t>
                      </a:r>
                      <a:endParaRPr lang="en-US" altLang="en-US" dirty="0"/>
                    </a:p>
                  </a:txBody>
                  <a:tcPr/>
                </a:tc>
              </a:tr>
              <a:tr h="1689735">
                <a:tc>
                  <a:txBody>
                    <a:bodyPr/>
                    <a:lstStyle/>
                    <a:p>
                      <a:pPr algn="just"/>
                      <a:r>
                        <a:rPr lang="en-US" dirty="0"/>
                        <a:t>8</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Statistical and Machine Learning Forecasting Methods: Concerns and Ways Forward — S. Makridakis et al., 2018</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Statistical &amp; ML Forecasting</a:t>
                      </a:r>
                      <a:endParaRPr lang="en-US" altLang="en-US" dirty="0"/>
                    </a:p>
                  </a:txBody>
                  <a:tcPr/>
                </a:tc>
                <a:tc>
                  <a:txBody>
                    <a:bodyPr/>
                    <a:lstStyle/>
                    <a:p>
                      <a:pPr algn="just"/>
                      <a:r>
                        <a:rPr lang="en-US" altLang="en-US" dirty="0"/>
                        <a:t>Discussed challenges and limitations of machine learning forecasting methods.</a:t>
                      </a:r>
                      <a:endParaRPr lang="en-US" altLang="en-US" dirty="0"/>
                    </a:p>
                  </a:txBody>
                  <a:tcPr/>
                </a:tc>
                <a:tc>
                  <a:txBody>
                    <a:bodyPr/>
                    <a:lstStyle/>
                    <a:p>
                      <a:pPr algn="just"/>
                      <a:r>
                        <a:rPr lang="en-US" altLang="en-US" dirty="0"/>
                        <a:t>Motivated the use of advanced hybrid and ensemble approaches.</a:t>
                      </a:r>
                      <a:endParaRPr lang="en-US" altLang="en-US" dirty="0"/>
                    </a:p>
                  </a:txBody>
                  <a:tcPr/>
                </a:tc>
              </a:tr>
            </a:tbl>
          </a:graphicData>
        </a:graphic>
      </p:graphicFrame>
      <p:sp>
        <p:nvSpPr>
          <p:cNvPr id="2" name="Slide Number Placeholder 1"/>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3317" name="Picture 6"/>
          <p:cNvPicPr>
            <a:picLocks noChangeAspect="1"/>
          </p:cNvPicPr>
          <p:nvPr/>
        </p:nvPicPr>
        <p:blipFill>
          <a:blip r:embed="rId1"/>
          <a:stretch>
            <a:fillRect/>
          </a:stretch>
        </p:blipFill>
        <p:spPr>
          <a:xfrm>
            <a:off x="0" y="5676900"/>
            <a:ext cx="12192000" cy="1181100"/>
          </a:xfrm>
          <a:prstGeom prst="rect">
            <a:avLst/>
          </a:prstGeom>
          <a:noFill/>
          <a:ln w="9525">
            <a:noFill/>
          </a:ln>
        </p:spPr>
      </p:pic>
      <p:pic>
        <p:nvPicPr>
          <p:cNvPr id="10246" name="Picture 2"/>
          <p:cNvPicPr>
            <a:picLocks noChangeAspect="1"/>
          </p:cNvPicPr>
          <p:nvPr/>
        </p:nvPicPr>
        <p:blipFill>
          <a:blip r:embed="rId2"/>
          <a:stretch>
            <a:fillRect/>
          </a:stretch>
        </p:blipFill>
        <p:spPr>
          <a:xfrm>
            <a:off x="149225" y="0"/>
            <a:ext cx="11761788" cy="13017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4"/>
          <p:cNvGraphicFramePr>
            <a:graphicFrameLocks noGrp="1"/>
          </p:cNvGraphicFramePr>
          <p:nvPr/>
        </p:nvGraphicFramePr>
        <p:xfrm>
          <a:off x="139700" y="1656080"/>
          <a:ext cx="11913235" cy="3687445"/>
        </p:xfrm>
        <a:graphic>
          <a:graphicData uri="http://schemas.openxmlformats.org/drawingml/2006/table">
            <a:tbl>
              <a:tblPr firstRow="1" bandRow="1">
                <a:tableStyleId>{073A0DAA-6AF3-43AB-8588-CEC1D06C72B9}</a:tableStyleId>
              </a:tblPr>
              <a:tblGrid>
                <a:gridCol w="673100"/>
                <a:gridCol w="3027680"/>
                <a:gridCol w="1811655"/>
                <a:gridCol w="3260725"/>
                <a:gridCol w="3140075"/>
              </a:tblGrid>
              <a:tr h="640080">
                <a:tc>
                  <a:txBody>
                    <a:bodyPr/>
                    <a:lstStyle/>
                    <a:p>
                      <a:pPr algn="ctr"/>
                      <a:r>
                        <a:rPr lang="en-IN"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Title, Author, 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Technique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Remarks</a:t>
                      </a:r>
                      <a:endParaRPr lang="en-IN" dirty="0">
                        <a:latin typeface="Times New Roman" panose="02020603050405020304" pitchFamily="18" charset="0"/>
                        <a:cs typeface="Times New Roman" panose="02020603050405020304" pitchFamily="18" charset="0"/>
                      </a:endParaRPr>
                    </a:p>
                  </a:txBody>
                  <a:tcPr/>
                </a:tc>
              </a:tr>
              <a:tr h="1624330">
                <a:tc>
                  <a:txBody>
                    <a:bodyPr/>
                    <a:lstStyle/>
                    <a:p>
                      <a:pPr algn="just"/>
                      <a:r>
                        <a:rPr lang="en-IN" dirty="0"/>
                        <a:t>9</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Deep Learning with Long Short-Term Memory Networks for Financial Market Predictions — T. Fischer &amp; C. Krauss, 2018</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LSTM for Financial Forecasting</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Applied LSTM models for stock and financial market prediction tasks.</a:t>
                      </a:r>
                      <a:endParaRPr lang="en-US" alt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dirty="0"/>
                        <a:t>Demonstrated deep learning effectiveness in financial forecasting.</a:t>
                      </a:r>
                      <a:endParaRPr lang="en-US" altLang="en-US" dirty="0"/>
                    </a:p>
                  </a:txBody>
                  <a:tcPr/>
                </a:tc>
              </a:tr>
              <a:tr h="1423035">
                <a:tc>
                  <a:txBody>
                    <a:bodyPr/>
                    <a:lstStyle/>
                    <a:p>
                      <a:pPr algn="just"/>
                      <a:r>
                        <a:rPr lang="en-US" dirty="0"/>
                        <a:t>10</a:t>
                      </a:r>
                      <a:endParaRPr lang="en-US"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800" b="0" i="0" kern="1200" dirty="0">
                          <a:solidFill>
                            <a:schemeClr val="dk1"/>
                          </a:solidFill>
                          <a:effectLst/>
                          <a:latin typeface="+mn-lt"/>
                          <a:ea typeface="+mn-ea"/>
                          <a:cs typeface="+mn-cs"/>
                        </a:rPr>
                        <a:t>Deep Learning-Based Financial Time Series Forecasting: A Survey — Y. Zhang et al., 2021</a:t>
                      </a:r>
                      <a:endParaRPr lang="en-US" altLang="en-US" sz="1800" b="0" i="0" kern="1200" dirty="0">
                        <a:solidFill>
                          <a:schemeClr val="dk1"/>
                        </a:solidFill>
                        <a:effectLst/>
                        <a:latin typeface="+mn-lt"/>
                        <a:ea typeface="+mn-ea"/>
                        <a:cs typeface="+mn-cs"/>
                      </a:endParaRPr>
                    </a:p>
                  </a:txBody>
                  <a:tcPr/>
                </a:tc>
                <a:tc>
                  <a:txBody>
                    <a:bodyPr/>
                    <a:lstStyle/>
                    <a:p>
                      <a:pPr algn="just"/>
                      <a:r>
                        <a:rPr lang="en-US" altLang="en-US" dirty="0"/>
                        <a:t>Deep Learning Survey</a:t>
                      </a:r>
                      <a:endParaRPr lang="en-US" altLang="en-US" dirty="0"/>
                    </a:p>
                  </a:txBody>
                  <a:tcPr/>
                </a:tc>
                <a:tc>
                  <a:txBody>
                    <a:bodyPr/>
                    <a:lstStyle/>
                    <a:p>
                      <a:pPr algn="just"/>
                      <a:r>
                        <a:rPr lang="en-US" altLang="en-US" dirty="0"/>
                        <a:t>Surveyed deep learning techniques for financial time-series forecasting applications.</a:t>
                      </a:r>
                      <a:endParaRPr lang="en-US" altLang="en-US" dirty="0"/>
                    </a:p>
                  </a:txBody>
                  <a:tcPr/>
                </a:tc>
                <a:tc>
                  <a:txBody>
                    <a:bodyPr/>
                    <a:lstStyle/>
                    <a:p>
                      <a:pPr algn="just"/>
                      <a:r>
                        <a:rPr lang="en-US" altLang="en-US" dirty="0"/>
                        <a:t>Provided insights into modern forecasting architectures and trends.</a:t>
                      </a:r>
                      <a:endParaRPr lang="en-US" altLang="en-US" dirty="0"/>
                    </a:p>
                  </a:txBody>
                  <a:tcPr/>
                </a:tc>
              </a:tr>
            </a:tbl>
          </a:graphicData>
        </a:graphic>
      </p:graphicFrame>
      <p:sp>
        <p:nvSpPr>
          <p:cNvPr id="2" name="Slide Number Placeholder 1"/>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3317" name="Picture 6"/>
          <p:cNvPicPr>
            <a:picLocks noChangeAspect="1"/>
          </p:cNvPicPr>
          <p:nvPr/>
        </p:nvPicPr>
        <p:blipFill>
          <a:blip r:embed="rId1"/>
          <a:stretch>
            <a:fillRect/>
          </a:stretch>
        </p:blipFill>
        <p:spPr>
          <a:xfrm>
            <a:off x="0" y="5676900"/>
            <a:ext cx="12192000" cy="1181100"/>
          </a:xfrm>
          <a:prstGeom prst="rect">
            <a:avLst/>
          </a:prstGeom>
          <a:noFill/>
          <a:ln w="9525">
            <a:noFill/>
          </a:ln>
        </p:spPr>
      </p:pic>
      <p:pic>
        <p:nvPicPr>
          <p:cNvPr id="10246" name="Picture 2"/>
          <p:cNvPicPr>
            <a:picLocks noChangeAspect="1"/>
          </p:cNvPicPr>
          <p:nvPr/>
        </p:nvPicPr>
        <p:blipFill>
          <a:blip r:embed="rId2"/>
          <a:stretch>
            <a:fillRect/>
          </a:stretch>
        </p:blipFill>
        <p:spPr>
          <a:xfrm>
            <a:off x="149225" y="0"/>
            <a:ext cx="11761788" cy="130175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a:xfrm>
            <a:off x="838200" y="1296988"/>
            <a:ext cx="10515600" cy="708025"/>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Existing System</a:t>
            </a:r>
            <a:endParaRPr lang="en-IN" altLang="x-none" dirty="0">
              <a:latin typeface="Times New Roman" panose="02020603050405020304" pitchFamily="18" charset="0"/>
              <a:ea typeface="Times New Roman" panose="02020603050405020304" pitchFamily="18" charset="0"/>
            </a:endParaRPr>
          </a:p>
        </p:txBody>
      </p:sp>
      <p:sp>
        <p:nvSpPr>
          <p:cNvPr id="10243" name="Content Placeholder 2"/>
          <p:cNvSpPr>
            <a:spLocks noGrp="1"/>
          </p:cNvSpPr>
          <p:nvPr>
            <p:ph idx="1"/>
          </p:nvPr>
        </p:nvSpPr>
        <p:spPr>
          <a:xfrm>
            <a:off x="838200" y="2499360"/>
            <a:ext cx="10515600" cy="4552950"/>
          </a:xfrm>
        </p:spPr>
        <p:txBody>
          <a:bodyPr vert="horz" wrap="square" lIns="91440" tIns="45720" rIns="91440" bIns="45720" anchor="t" anchorCtr="0"/>
          <a:p>
            <a:r>
              <a:rPr lang="en-US" altLang="en-US" sz="2000" dirty="0">
                <a:latin typeface="Times New Roman" panose="02020603050405020304" pitchFamily="18" charset="0"/>
                <a:ea typeface="Times New Roman" panose="02020603050405020304" pitchFamily="18" charset="0"/>
              </a:rPr>
              <a:t>Current gold price prediction primarily uses traditional statistical methods and elementary machine learning models, such as moving averages and ARIMA, which assume linear and stationary market behavior due to their simplicity and interpretability.</a:t>
            </a:r>
            <a:endParaRPr lang="en-US" altLang="en-US" sz="2000" dirty="0">
              <a:latin typeface="Times New Roman" panose="02020603050405020304" pitchFamily="18" charset="0"/>
              <a:ea typeface="Times New Roman" panose="02020603050405020304" pitchFamily="18" charset="0"/>
            </a:endParaRPr>
          </a:p>
          <a:p>
            <a:r>
              <a:rPr lang="en-US" altLang="en-US" sz="2000" dirty="0">
                <a:latin typeface="Times New Roman" panose="02020603050405020304" pitchFamily="18" charset="0"/>
                <a:ea typeface="Times New Roman" panose="02020603050405020304" pitchFamily="18" charset="0"/>
              </a:rPr>
              <a:t>These legacy approaches suffer from significant limitations, including manual and repetitive data gathering, non-automated model retraining, and a high risk of human error, consuming valuable time and resources.</a:t>
            </a:r>
            <a:endParaRPr lang="en-US" altLang="en-US" sz="2000" dirty="0">
              <a:latin typeface="Times New Roman" panose="02020603050405020304" pitchFamily="18" charset="0"/>
              <a:ea typeface="Times New Roman" panose="02020603050405020304" pitchFamily="18" charset="0"/>
            </a:endParaRPr>
          </a:p>
          <a:p>
            <a:r>
              <a:rPr lang="en-US" altLang="en-US" sz="2000" dirty="0">
                <a:latin typeface="Times New Roman" panose="02020603050405020304" pitchFamily="18" charset="0"/>
                <a:ea typeface="Times New Roman" panose="02020603050405020304" pitchFamily="18" charset="0"/>
              </a:rPr>
              <a:t>Furthermore, these methods are generally limited to short-term forecasts, perform poorly in volatile markets, lack robustness against unexpected events, and are unsuitable for handling increasing data volumes or providing meaningful visualization and decision support.</a:t>
            </a:r>
            <a:endParaRPr lang="en-US" altLang="en-US" sz="2000"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0245" name="Picture 6"/>
          <p:cNvPicPr>
            <a:picLocks noChangeAspect="1"/>
          </p:cNvPicPr>
          <p:nvPr/>
        </p:nvPicPr>
        <p:blipFill>
          <a:blip r:embed="rId1"/>
          <a:stretch>
            <a:fillRect/>
          </a:stretch>
        </p:blipFill>
        <p:spPr>
          <a:xfrm>
            <a:off x="28575" y="5676900"/>
            <a:ext cx="12163425" cy="1181100"/>
          </a:xfrm>
          <a:prstGeom prst="rect">
            <a:avLst/>
          </a:prstGeom>
          <a:noFill/>
          <a:ln w="9525">
            <a:noFill/>
          </a:ln>
        </p:spPr>
      </p:pic>
      <p:pic>
        <p:nvPicPr>
          <p:cNvPr id="10246" name="Picture 2"/>
          <p:cNvPicPr>
            <a:picLocks noChangeAspect="1"/>
          </p:cNvPicPr>
          <p:nvPr/>
        </p:nvPicPr>
        <p:blipFill>
          <a:blip r:embed="rId2"/>
          <a:stretch>
            <a:fillRect/>
          </a:stretch>
        </p:blipFill>
        <p:spPr>
          <a:xfrm>
            <a:off x="149225" y="0"/>
            <a:ext cx="11761788" cy="130175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a:xfrm>
            <a:off x="585788" y="952500"/>
            <a:ext cx="10515600" cy="1325563"/>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Drawbacks</a:t>
            </a:r>
            <a:endParaRPr lang="en-IN" altLang="x-none"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1268" name="Picture 2"/>
          <p:cNvPicPr>
            <a:picLocks noChangeAspect="1"/>
          </p:cNvPicPr>
          <p:nvPr/>
        </p:nvPicPr>
        <p:blipFill>
          <a:blip r:embed="rId1"/>
          <a:stretch>
            <a:fillRect/>
          </a:stretch>
        </p:blipFill>
        <p:spPr>
          <a:xfrm>
            <a:off x="149225" y="0"/>
            <a:ext cx="11761788" cy="1301750"/>
          </a:xfrm>
          <a:prstGeom prst="rect">
            <a:avLst/>
          </a:prstGeom>
          <a:noFill/>
          <a:ln w="9525">
            <a:noFill/>
          </a:ln>
        </p:spPr>
      </p:pic>
      <p:sp>
        <p:nvSpPr>
          <p:cNvPr id="3" name="Text Box 2"/>
          <p:cNvSpPr txBox="1"/>
          <p:nvPr/>
        </p:nvSpPr>
        <p:spPr>
          <a:xfrm>
            <a:off x="889635" y="2422525"/>
            <a:ext cx="9789795" cy="922020"/>
          </a:xfrm>
          <a:prstGeom prst="rect">
            <a:avLst/>
          </a:prstGeom>
          <a:noFill/>
        </p:spPr>
        <p:txBody>
          <a:bodyPr wrap="square" rtlCol="0">
            <a:spAutoFit/>
          </a:bodyPr>
          <a:p>
            <a:pPr marL="285750" indent="-285750">
              <a:lnSpc>
                <a:spcPct val="150000"/>
              </a:lnSpc>
              <a:buFont typeface="Arial" panose="020B0604020202020204" pitchFamily="34" charset="0"/>
              <a:buChar char="•"/>
            </a:pPr>
            <a:r>
              <a:rPr lang="en-US" altLang="en-US"/>
              <a:t>Traditional methods suffer from significant accuracy drops during volatile periods and are incapable of detecting intricate, non-linear, or long-range dependencies in market data.</a:t>
            </a:r>
            <a:endParaRPr lang="en-US" altLang="en-US"/>
          </a:p>
        </p:txBody>
      </p:sp>
      <p:sp>
        <p:nvSpPr>
          <p:cNvPr id="5" name="Text Box 4"/>
          <p:cNvSpPr txBox="1"/>
          <p:nvPr/>
        </p:nvSpPr>
        <p:spPr>
          <a:xfrm>
            <a:off x="902970" y="3266440"/>
            <a:ext cx="9163685" cy="922020"/>
          </a:xfrm>
          <a:prstGeom prst="rect">
            <a:avLst/>
          </a:prstGeom>
          <a:noFill/>
        </p:spPr>
        <p:txBody>
          <a:bodyPr wrap="square" rtlCol="0">
            <a:spAutoFit/>
          </a:bodyPr>
          <a:p>
            <a:pPr marL="285750" indent="-285750">
              <a:lnSpc>
                <a:spcPct val="150000"/>
              </a:lnSpc>
              <a:buFont typeface="Arial" panose="020B0604020202020204" pitchFamily="34" charset="0"/>
              <a:buChar char="•"/>
            </a:pPr>
            <a:r>
              <a:rPr lang="en-US" altLang="en-US"/>
              <a:t>Their forecast horizons are typically limited, offering little value for medium- or long-term planning.</a:t>
            </a:r>
            <a:endParaRPr lang="en-US" altLang="en-US"/>
          </a:p>
        </p:txBody>
      </p:sp>
      <p:sp>
        <p:nvSpPr>
          <p:cNvPr id="6" name="Text Box 5"/>
          <p:cNvSpPr txBox="1"/>
          <p:nvPr/>
        </p:nvSpPr>
        <p:spPr>
          <a:xfrm>
            <a:off x="911225" y="4091305"/>
            <a:ext cx="9049385" cy="1337945"/>
          </a:xfrm>
          <a:prstGeom prst="rect">
            <a:avLst/>
          </a:prstGeom>
          <a:noFill/>
        </p:spPr>
        <p:txBody>
          <a:bodyPr wrap="square" rtlCol="0">
            <a:spAutoFit/>
          </a:bodyPr>
          <a:p>
            <a:pPr marL="285750" indent="-285750">
              <a:lnSpc>
                <a:spcPct val="150000"/>
              </a:lnSpc>
              <a:buFont typeface="Arial" panose="020B0604020202020204" pitchFamily="34" charset="0"/>
              <a:buChar char="•"/>
            </a:pPr>
            <a:r>
              <a:rPr lang="en-US" altLang="en-US"/>
              <a:t>These approaches require frequent manual intervention for updates and retraining, making them labor-intensive, costly to maintain, and lacking in automation, with rudimentary or non-existent visualization and decision-making tools.</a:t>
            </a:r>
            <a:endParaRPr lang="en-US" altLang="en-US"/>
          </a:p>
        </p:txBody>
      </p:sp>
      <p:pic>
        <p:nvPicPr>
          <p:cNvPr id="13317" name="Picture 6"/>
          <p:cNvPicPr>
            <a:picLocks noChangeAspect="1"/>
          </p:cNvPicPr>
          <p:nvPr/>
        </p:nvPicPr>
        <p:blipFill>
          <a:blip r:embed="rId2"/>
          <a:stretch>
            <a:fillRect/>
          </a:stretch>
        </p:blipFill>
        <p:spPr>
          <a:xfrm>
            <a:off x="0" y="5676900"/>
            <a:ext cx="12192000" cy="11811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44538" y="1176338"/>
            <a:ext cx="10515600" cy="66357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br>
            <a: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Proposed System</a:t>
            </a:r>
            <a:endPar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12291" name="Content Placeholder 2"/>
          <p:cNvSpPr>
            <a:spLocks noGrp="1"/>
          </p:cNvSpPr>
          <p:nvPr>
            <p:ph idx="1"/>
          </p:nvPr>
        </p:nvSpPr>
        <p:spPr>
          <a:xfrm>
            <a:off x="838200" y="2310130"/>
            <a:ext cx="10515600" cy="4813300"/>
          </a:xfrm>
        </p:spPr>
        <p:txBody>
          <a:bodyPr vert="horz" wrap="square" lIns="91440" tIns="45720" rIns="91440" bIns="45720" anchor="t" anchorCtr="0"/>
          <a:p>
            <a:pPr algn="just">
              <a:lnSpc>
                <a:spcPct val="125000"/>
              </a:lnSpc>
              <a:spcAft>
                <a:spcPts val="0"/>
              </a:spcAft>
            </a:pPr>
            <a:r>
              <a:rPr lang="en-US" altLang="en-US" sz="1800" dirty="0">
                <a:latin typeface="Times New Roman" panose="02020603050405020304" pitchFamily="18" charset="0"/>
                <a:ea typeface="Times New Roman" panose="02020603050405020304" pitchFamily="18" charset="0"/>
              </a:rPr>
              <a:t>This proposed system is a cutting-edge solution that harnesses the power of deep learning ensemble models for gold price prediction, fundamentally rethinking the forecasting workflow to surpass legacy approaches.</a:t>
            </a:r>
            <a:endParaRPr lang="en-US" altLang="en-US" sz="1800" dirty="0">
              <a:latin typeface="Times New Roman" panose="02020603050405020304" pitchFamily="18" charset="0"/>
              <a:ea typeface="Times New Roman" panose="02020603050405020304" pitchFamily="18" charset="0"/>
            </a:endParaRPr>
          </a:p>
          <a:p>
            <a:pPr algn="just">
              <a:lnSpc>
                <a:spcPct val="125000"/>
              </a:lnSpc>
              <a:spcAft>
                <a:spcPts val="0"/>
              </a:spcAft>
            </a:pPr>
            <a:r>
              <a:rPr lang="en-US" altLang="en-US" sz="1800" dirty="0">
                <a:latin typeface="Times New Roman" panose="02020603050405020304" pitchFamily="18" charset="0"/>
                <a:ea typeface="Times New Roman" panose="02020603050405020304" pitchFamily="18" charset="0"/>
              </a:rPr>
              <a:t>It employs a hybrid ensemble of Chronos-T5 and N-HiTS, state-of-the-art models designed for time-series analysis, combining their strengths to produce accurate and robust forecasts across various market conditions.</a:t>
            </a:r>
            <a:endParaRPr lang="en-US" altLang="en-US" sz="1800" dirty="0">
              <a:latin typeface="Times New Roman" panose="02020603050405020304" pitchFamily="18" charset="0"/>
              <a:ea typeface="Times New Roman" panose="02020603050405020304" pitchFamily="18" charset="0"/>
            </a:endParaRPr>
          </a:p>
          <a:p>
            <a:pPr algn="just">
              <a:lnSpc>
                <a:spcPct val="125000"/>
              </a:lnSpc>
              <a:spcAft>
                <a:spcPts val="0"/>
              </a:spcAft>
            </a:pPr>
            <a:r>
              <a:rPr lang="en-US" altLang="en-US" sz="1800" dirty="0">
                <a:latin typeface="Times New Roman" panose="02020603050405020304" pitchFamily="18" charset="0"/>
                <a:ea typeface="Times New Roman" panose="02020603050405020304" pitchFamily="18" charset="0"/>
              </a:rPr>
              <a:t>Automation is central to the system, autonomously retrieving data, performing feature engineering, storing processed data in SQLite, and presenting seamlessly integrated forecasts via an interactive Streamlit dashboard for visualization and customization.</a:t>
            </a:r>
            <a:endParaRPr lang="en-US" altLang="en-US" sz="1800" dirty="0">
              <a:latin typeface="Times New Roman" panose="02020603050405020304" pitchFamily="18" charset="0"/>
              <a:ea typeface="Times New Roman" panose="02020603050405020304" pitchFamily="18" charset="0"/>
            </a:endParaRPr>
          </a:p>
          <a:p>
            <a:pPr algn="just"/>
            <a:endParaRPr lang="en-US" altLang="en-US" sz="1800"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2293" name="Picture 2"/>
          <p:cNvPicPr>
            <a:picLocks noChangeAspect="1"/>
          </p:cNvPicPr>
          <p:nvPr/>
        </p:nvPicPr>
        <p:blipFill>
          <a:blip r:embed="rId1"/>
          <a:stretch>
            <a:fillRect/>
          </a:stretch>
        </p:blipFill>
        <p:spPr>
          <a:xfrm>
            <a:off x="149225" y="0"/>
            <a:ext cx="11761788" cy="1301750"/>
          </a:xfrm>
          <a:prstGeom prst="rect">
            <a:avLst/>
          </a:prstGeom>
          <a:noFill/>
          <a:ln w="9525">
            <a:noFill/>
          </a:ln>
        </p:spPr>
      </p:pic>
      <p:pic>
        <p:nvPicPr>
          <p:cNvPr id="5" name="Picture 6"/>
          <p:cNvPicPr>
            <a:picLocks noChangeAspect="1"/>
          </p:cNvPicPr>
          <p:nvPr/>
        </p:nvPicPr>
        <p:blipFill>
          <a:blip r:embed="rId2"/>
          <a:stretch>
            <a:fillRect/>
          </a:stretch>
        </p:blipFill>
        <p:spPr>
          <a:xfrm>
            <a:off x="0" y="5676900"/>
            <a:ext cx="12192000" cy="118110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a:xfrm>
            <a:off x="838200" y="906463"/>
            <a:ext cx="10515600" cy="1325562"/>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Algorithms Used</a:t>
            </a:r>
            <a:endParaRPr lang="en-IN" altLang="x-none" dirty="0">
              <a:latin typeface="Times New Roman" panose="02020603050405020304" pitchFamily="18" charset="0"/>
              <a:ea typeface="Times New Roman" panose="02020603050405020304" pitchFamily="18" charset="0"/>
            </a:endParaRPr>
          </a:p>
        </p:txBody>
      </p:sp>
      <p:sp>
        <p:nvSpPr>
          <p:cNvPr id="13315" name="Content Placeholder 2"/>
          <p:cNvSpPr>
            <a:spLocks noGrp="1"/>
          </p:cNvSpPr>
          <p:nvPr>
            <p:ph idx="1"/>
          </p:nvPr>
        </p:nvSpPr>
        <p:spPr>
          <a:xfrm>
            <a:off x="838200" y="2369820"/>
            <a:ext cx="10515600" cy="4351338"/>
          </a:xfrm>
        </p:spPr>
        <p:txBody>
          <a:bodyPr vert="horz" wrap="square" lIns="91440" tIns="45720" rIns="91440" bIns="45720" anchor="t" anchorCtr="0"/>
          <a:p>
            <a:r>
              <a:rPr lang="en-US" altLang="en-US" sz="2000" b="1" dirty="0">
                <a:latin typeface="Times New Roman" panose="02020603050405020304" pitchFamily="18" charset="0"/>
                <a:ea typeface="Times New Roman" panose="02020603050405020304" pitchFamily="18" charset="0"/>
              </a:rPr>
              <a:t>Chronos-T5: </a:t>
            </a:r>
            <a:r>
              <a:rPr lang="en-US" altLang="en-US" sz="2000" dirty="0">
                <a:latin typeface="Times New Roman" panose="02020603050405020304" pitchFamily="18" charset="0"/>
                <a:ea typeface="Times New Roman" panose="02020603050405020304" pitchFamily="18" charset="0"/>
              </a:rPr>
              <a:t>A transformer-based foundation model for time-series forecasting, it learns complex temporal patterns from sequential data, capturing short-term market movements and supporting multi-horizon forecasting with minimal feature engineering.</a:t>
            </a:r>
            <a:endParaRPr lang="en-US" altLang="en-US" sz="2000" dirty="0">
              <a:latin typeface="Times New Roman" panose="02020603050405020304" pitchFamily="18" charset="0"/>
              <a:ea typeface="Times New Roman" panose="02020603050405020304" pitchFamily="18" charset="0"/>
            </a:endParaRPr>
          </a:p>
          <a:p>
            <a:r>
              <a:rPr lang="en-US" altLang="en-US" sz="2000" b="1" dirty="0">
                <a:latin typeface="Times New Roman" panose="02020603050405020304" pitchFamily="18" charset="0"/>
                <a:ea typeface="Times New Roman" panose="02020603050405020304" pitchFamily="18" charset="0"/>
              </a:rPr>
              <a:t>N-HiTS (Neural Hierarchical Interpolation for Time Series Forecasting):</a:t>
            </a:r>
            <a:r>
              <a:rPr lang="en-US" altLang="en-US" sz="2000" dirty="0">
                <a:latin typeface="Times New Roman" panose="02020603050405020304" pitchFamily="18" charset="0"/>
                <a:ea typeface="Times New Roman" panose="02020603050405020304" pitchFamily="18" charset="0"/>
              </a:rPr>
              <a:t> A deep learning architecture designed for long-term time-series prediction, it uses hierarchical interpolation to model trends, seasonality, and temporal dependencies efficiently, providing stable and accurate forecasts for medium- and long-term horizons.</a:t>
            </a:r>
            <a:endParaRPr lang="en-US" altLang="en-US" sz="2000" dirty="0">
              <a:latin typeface="Times New Roman" panose="02020603050405020304" pitchFamily="18" charset="0"/>
              <a:ea typeface="Times New Roman" panose="02020603050405020304" pitchFamily="18" charset="0"/>
            </a:endParaRPr>
          </a:p>
          <a:p>
            <a:r>
              <a:rPr lang="en-US" altLang="en-US" sz="2000" b="1" dirty="0">
                <a:latin typeface="Times New Roman" panose="02020603050405020304" pitchFamily="18" charset="0"/>
                <a:ea typeface="Times New Roman" panose="02020603050405020304" pitchFamily="18" charset="0"/>
              </a:rPr>
              <a:t>Ensemble Forecasting: </a:t>
            </a:r>
            <a:r>
              <a:rPr lang="en-US" altLang="en-US" sz="2000" dirty="0">
                <a:latin typeface="Times New Roman" panose="02020603050405020304" pitchFamily="18" charset="0"/>
                <a:ea typeface="Times New Roman" panose="02020603050405020304" pitchFamily="18" charset="0"/>
              </a:rPr>
              <a:t>This method combines predictions from Chronos-T5 and N-HiTS using weighted averaging, which reduces prediction variance, improves overall forecasting</a:t>
            </a:r>
            <a:endParaRPr lang="en-US" altLang="en-US" sz="2000"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3317" name="Picture 6"/>
          <p:cNvPicPr>
            <a:picLocks noChangeAspect="1"/>
          </p:cNvPicPr>
          <p:nvPr/>
        </p:nvPicPr>
        <p:blipFill>
          <a:blip r:embed="rId1"/>
          <a:stretch>
            <a:fillRect/>
          </a:stretch>
        </p:blipFill>
        <p:spPr>
          <a:xfrm>
            <a:off x="0" y="5676900"/>
            <a:ext cx="12192000" cy="1181100"/>
          </a:xfrm>
          <a:prstGeom prst="rect">
            <a:avLst/>
          </a:prstGeom>
          <a:noFill/>
          <a:ln w="9525">
            <a:noFill/>
          </a:ln>
        </p:spPr>
      </p:pic>
      <p:pic>
        <p:nvPicPr>
          <p:cNvPr id="13318"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54050" y="936625"/>
            <a:ext cx="10515600" cy="1325563"/>
          </a:xfrm>
        </p:spPr>
        <p:txBody>
          <a:bodyPr/>
          <a:p>
            <a:r>
              <a:rPr lang="en-IN" altLang="en-US" sz="3600">
                <a:latin typeface="Times New Roman" panose="02020603050405020304" pitchFamily="18" charset="0"/>
                <a:cs typeface="Times New Roman" panose="02020603050405020304" pitchFamily="18" charset="0"/>
              </a:rPr>
              <a:t>Working mechanism</a:t>
            </a:r>
            <a:endParaRPr lang="en-IN" alt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054225"/>
            <a:ext cx="10515600" cy="4351338"/>
          </a:xfrm>
        </p:spPr>
        <p:txBody>
          <a:bodyPr numCol="2"/>
          <a:p>
            <a:pPr marL="0" indent="0" fontAlgn="auto">
              <a:lnSpc>
                <a:spcPct val="15000"/>
              </a:lnSpc>
              <a:spcAft>
                <a:spcPts val="0"/>
              </a:spcAft>
              <a:buNone/>
            </a:pPr>
            <a:r>
              <a:rPr lang="en-US" altLang="en-US" sz="1000" b="1"/>
              <a:t>INPUT:</a:t>
            </a:r>
            <a:endParaRPr lang="en-US" altLang="en-US" sz="1000" b="1"/>
          </a:p>
          <a:p>
            <a:pPr marL="0" indent="0" fontAlgn="auto">
              <a:lnSpc>
                <a:spcPct val="15000"/>
              </a:lnSpc>
              <a:spcAft>
                <a:spcPts val="0"/>
              </a:spcAft>
              <a:buNone/>
            </a:pPr>
            <a:r>
              <a:rPr lang="en-US" altLang="en-US" sz="1000" b="1"/>
              <a:t>    Historical gold price dataset</a:t>
            </a:r>
            <a:endParaRPr lang="en-US" altLang="en-US" sz="1000" b="1"/>
          </a:p>
          <a:p>
            <a:pPr marL="0" indent="0" fontAlgn="auto">
              <a:lnSpc>
                <a:spcPct val="15000"/>
              </a:lnSpc>
              <a:spcAft>
                <a:spcPts val="0"/>
              </a:spcAft>
              <a:buNone/>
            </a:pPr>
            <a:r>
              <a:rPr lang="en-US" altLang="en-US" sz="1000" b="1"/>
              <a:t>    Exchange rate data</a:t>
            </a:r>
            <a:endParaRPr lang="en-US" altLang="en-US" sz="1000" b="1"/>
          </a:p>
          <a:p>
            <a:pPr marL="0" indent="0" fontAlgn="auto">
              <a:lnSpc>
                <a:spcPct val="15000"/>
              </a:lnSpc>
              <a:spcAft>
                <a:spcPts val="0"/>
              </a:spcAft>
              <a:buNone/>
            </a:pPr>
            <a:r>
              <a:rPr lang="en-US" altLang="en-US" sz="1000" b="1"/>
              <a:t>    Financial indicators</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OUTPUT:</a:t>
            </a:r>
            <a:endParaRPr lang="en-US" altLang="en-US" sz="1000" b="1"/>
          </a:p>
          <a:p>
            <a:pPr marL="0" indent="0" fontAlgn="auto">
              <a:lnSpc>
                <a:spcPct val="15000"/>
              </a:lnSpc>
              <a:spcAft>
                <a:spcPts val="0"/>
              </a:spcAft>
              <a:buNone/>
            </a:pPr>
            <a:r>
              <a:rPr lang="en-US" altLang="en-US" sz="1000" b="1"/>
              <a:t>    Forecasted gold prices</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BEGIN</a:t>
            </a:r>
            <a:endParaRPr lang="en-US" altLang="en-US" sz="1000" b="1"/>
          </a:p>
          <a:p>
            <a:pPr marL="0" indent="0" fontAlgn="auto">
              <a:lnSpc>
                <a:spcPct val="15000"/>
              </a:lnSpc>
              <a:spcAft>
                <a:spcPts val="0"/>
              </a:spcAft>
              <a:buNone/>
            </a:pPr>
            <a:r>
              <a:rPr lang="en-US" altLang="en-US" sz="1000" b="1"/>
              <a:t>1. LOAD dataset</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2. PREPROCESS dataset</a:t>
            </a:r>
            <a:endParaRPr lang="en-US" altLang="en-US" sz="1000" b="1"/>
          </a:p>
          <a:p>
            <a:pPr marL="0" indent="0" fontAlgn="auto">
              <a:lnSpc>
                <a:spcPct val="15000"/>
              </a:lnSpc>
              <a:spcAft>
                <a:spcPts val="0"/>
              </a:spcAft>
              <a:buNone/>
            </a:pPr>
            <a:r>
              <a:rPr lang="en-US" altLang="en-US" sz="1000" b="1"/>
              <a:t>       HANDLE missing values</a:t>
            </a:r>
            <a:endParaRPr lang="en-US" altLang="en-US" sz="1000" b="1"/>
          </a:p>
          <a:p>
            <a:pPr marL="0" indent="0" fontAlgn="auto">
              <a:lnSpc>
                <a:spcPct val="15000"/>
              </a:lnSpc>
              <a:spcAft>
                <a:spcPts val="0"/>
              </a:spcAft>
              <a:buNone/>
            </a:pPr>
            <a:r>
              <a:rPr lang="en-US" altLang="en-US" sz="1000" b="1"/>
              <a:t>       SORT by date</a:t>
            </a:r>
            <a:endParaRPr lang="en-US" altLang="en-US" sz="1000" b="1"/>
          </a:p>
          <a:p>
            <a:pPr marL="0" indent="0" fontAlgn="auto">
              <a:lnSpc>
                <a:spcPct val="15000"/>
              </a:lnSpc>
              <a:spcAft>
                <a:spcPts val="0"/>
              </a:spcAft>
              <a:buNone/>
            </a:pPr>
            <a:r>
              <a:rPr lang="en-US" altLang="en-US" sz="1000" b="1"/>
              <a:t>       SCALE numerical features</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3. PERFORM feature engineering</a:t>
            </a:r>
            <a:endParaRPr lang="en-US" altLang="en-US" sz="1000" b="1"/>
          </a:p>
          <a:p>
            <a:pPr marL="0" indent="0" fontAlgn="auto">
              <a:lnSpc>
                <a:spcPct val="15000"/>
              </a:lnSpc>
              <a:spcAft>
                <a:spcPts val="0"/>
              </a:spcAft>
              <a:buNone/>
            </a:pPr>
            <a:r>
              <a:rPr lang="en-US" altLang="en-US" sz="1000" b="1"/>
              <a:t>       COMPUTE SMA</a:t>
            </a:r>
            <a:endParaRPr lang="en-US" altLang="en-US" sz="1000" b="1"/>
          </a:p>
          <a:p>
            <a:pPr marL="0" indent="0" fontAlgn="auto">
              <a:lnSpc>
                <a:spcPct val="15000"/>
              </a:lnSpc>
              <a:spcAft>
                <a:spcPts val="0"/>
              </a:spcAft>
              <a:buNone/>
            </a:pPr>
            <a:r>
              <a:rPr lang="en-US" altLang="en-US" sz="1000" b="1"/>
              <a:t>       COMPUTE EMA</a:t>
            </a:r>
            <a:endParaRPr lang="en-US" altLang="en-US" sz="1000" b="1"/>
          </a:p>
          <a:p>
            <a:pPr marL="0" indent="0" fontAlgn="auto">
              <a:lnSpc>
                <a:spcPct val="15000"/>
              </a:lnSpc>
              <a:spcAft>
                <a:spcPts val="0"/>
              </a:spcAft>
              <a:buNone/>
            </a:pPr>
            <a:r>
              <a:rPr lang="en-US" altLang="en-US" sz="1000" b="1"/>
              <a:t>       COMPUTE RSI</a:t>
            </a:r>
            <a:endParaRPr lang="en-US" altLang="en-US" sz="1000" b="1"/>
          </a:p>
          <a:p>
            <a:pPr marL="0" indent="0" fontAlgn="auto">
              <a:lnSpc>
                <a:spcPct val="15000"/>
              </a:lnSpc>
              <a:spcAft>
                <a:spcPts val="0"/>
              </a:spcAft>
              <a:buNone/>
            </a:pPr>
            <a:r>
              <a:rPr lang="en-US" altLang="en-US" sz="1000" b="1"/>
              <a:t>       COMPUTE MACD</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4. SPLIT data into train and test sets</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5. TRAIN Chronos-T5 model</a:t>
            </a:r>
            <a:endParaRPr lang="en-US" altLang="en-US" sz="1000" b="1"/>
          </a:p>
          <a:p>
            <a:pPr marL="0" indent="0" fontAlgn="auto">
              <a:lnSpc>
                <a:spcPct val="15000"/>
              </a:lnSpc>
              <a:spcAft>
                <a:spcPts val="0"/>
              </a:spcAft>
              <a:buNone/>
            </a:pPr>
            <a:r>
              <a:rPr lang="en-US" altLang="en-US" sz="1000" b="1"/>
              <a:t>       FIT model on training sequence</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6. TRAIN N-HiTS model</a:t>
            </a:r>
            <a:endParaRPr lang="en-US" altLang="en-US" sz="1000" b="1"/>
          </a:p>
          <a:p>
            <a:pPr marL="0" indent="0" fontAlgn="auto">
              <a:lnSpc>
                <a:spcPct val="15000"/>
              </a:lnSpc>
              <a:spcAft>
                <a:spcPts val="0"/>
              </a:spcAft>
              <a:buNone/>
            </a:pPr>
            <a:r>
              <a:rPr lang="en-US" altLang="en-US" sz="1000" b="1"/>
              <a:t>       FIT model on training sequence</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7. GENERATE forecasts</a:t>
            </a:r>
            <a:endParaRPr lang="en-US" altLang="en-US" sz="1000" b="1"/>
          </a:p>
          <a:p>
            <a:pPr marL="0" indent="0" fontAlgn="auto">
              <a:lnSpc>
                <a:spcPct val="15000"/>
              </a:lnSpc>
              <a:spcAft>
                <a:spcPts val="0"/>
              </a:spcAft>
              <a:buNone/>
            </a:pPr>
            <a:r>
              <a:rPr lang="en-US" altLang="en-US" sz="1000" b="1"/>
              <a:t>       P1 ← Chronos prediction</a:t>
            </a:r>
            <a:endParaRPr lang="en-US" altLang="en-US" sz="1000" b="1"/>
          </a:p>
          <a:p>
            <a:pPr marL="0" indent="0" fontAlgn="auto">
              <a:lnSpc>
                <a:spcPct val="15000"/>
              </a:lnSpc>
              <a:spcAft>
                <a:spcPts val="0"/>
              </a:spcAft>
              <a:buNone/>
            </a:pPr>
            <a:r>
              <a:rPr lang="en-US" altLang="en-US" sz="1000" b="1"/>
              <a:t>       P2 ← N-HiTS prediction</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8. COMPUTE ensemble prediction</a:t>
            </a:r>
            <a:endParaRPr lang="en-US" altLang="en-US" sz="1000" b="1"/>
          </a:p>
          <a:p>
            <a:pPr marL="0" indent="0" fontAlgn="auto">
              <a:lnSpc>
                <a:spcPct val="15000"/>
              </a:lnSpc>
              <a:spcAft>
                <a:spcPts val="0"/>
              </a:spcAft>
              <a:buNone/>
            </a:pPr>
            <a:r>
              <a:rPr lang="en-US" altLang="en-US" sz="1000" b="1"/>
              <a:t>       Final_Prediction =</a:t>
            </a:r>
            <a:endParaRPr lang="en-US" altLang="en-US" sz="1000" b="1"/>
          </a:p>
          <a:p>
            <a:pPr marL="0" indent="0" fontAlgn="auto">
              <a:lnSpc>
                <a:spcPct val="15000"/>
              </a:lnSpc>
              <a:spcAft>
                <a:spcPts val="0"/>
              </a:spcAft>
              <a:buNone/>
            </a:pPr>
            <a:r>
              <a:rPr lang="en-US" altLang="en-US" sz="1000" b="1"/>
              <a:t>           (W1 × P1) + (W2 × P2)</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9. EVALUATE performance</a:t>
            </a:r>
            <a:endParaRPr lang="en-US" altLang="en-US" sz="1000" b="1"/>
          </a:p>
          <a:p>
            <a:pPr marL="0" indent="0" fontAlgn="auto">
              <a:lnSpc>
                <a:spcPct val="15000"/>
              </a:lnSpc>
              <a:spcAft>
                <a:spcPts val="0"/>
              </a:spcAft>
              <a:buNone/>
            </a:pPr>
            <a:r>
              <a:rPr lang="en-US" altLang="en-US" sz="1000" b="1"/>
              <a:t>       CALCULATE MAE</a:t>
            </a:r>
            <a:endParaRPr lang="en-US" altLang="en-US" sz="1000" b="1"/>
          </a:p>
          <a:p>
            <a:pPr marL="0" indent="0" fontAlgn="auto">
              <a:lnSpc>
                <a:spcPct val="15000"/>
              </a:lnSpc>
              <a:spcAft>
                <a:spcPts val="0"/>
              </a:spcAft>
              <a:buNone/>
            </a:pPr>
            <a:r>
              <a:rPr lang="en-US" altLang="en-US" sz="1000" b="1"/>
              <a:t>       CALCULATE RMSE</a:t>
            </a:r>
            <a:endParaRPr lang="en-US" altLang="en-US" sz="1000" b="1"/>
          </a:p>
          <a:p>
            <a:pPr marL="0" indent="0" fontAlgn="auto">
              <a:lnSpc>
                <a:spcPct val="15000"/>
              </a:lnSpc>
              <a:spcAft>
                <a:spcPts val="0"/>
              </a:spcAft>
              <a:buNone/>
            </a:pPr>
            <a:r>
              <a:rPr lang="en-US" altLang="en-US" sz="1000" b="1"/>
              <a:t>       CALCULATE MAPE</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10. STORE predictions in SQLite</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11. VISUALIZE predictions using Streamlit dashboard</a:t>
            </a:r>
            <a:endParaRPr lang="en-US" altLang="en-US" sz="1000" b="1"/>
          </a:p>
          <a:p>
            <a:pPr marL="0" indent="0" fontAlgn="auto">
              <a:lnSpc>
                <a:spcPct val="15000"/>
              </a:lnSpc>
              <a:spcAft>
                <a:spcPts val="0"/>
              </a:spcAft>
              <a:buNone/>
            </a:pPr>
            <a:endParaRPr lang="en-US" altLang="en-US" sz="1000" b="1"/>
          </a:p>
          <a:p>
            <a:pPr marL="0" indent="0" fontAlgn="auto">
              <a:lnSpc>
                <a:spcPct val="15000"/>
              </a:lnSpc>
              <a:spcAft>
                <a:spcPts val="0"/>
              </a:spcAft>
              <a:buNone/>
            </a:pPr>
            <a:r>
              <a:rPr lang="en-US" altLang="en-US" sz="1000" b="1"/>
              <a:t>END</a:t>
            </a:r>
            <a:endParaRPr lang="en-US" altLang="en-US" sz="1000" b="1"/>
          </a:p>
        </p:txBody>
      </p:sp>
      <p:pic>
        <p:nvPicPr>
          <p:cNvPr id="14342" name="Picture 2"/>
          <p:cNvPicPr>
            <a:picLocks noChangeAspect="1"/>
          </p:cNvPicPr>
          <p:nvPr/>
        </p:nvPicPr>
        <p:blipFill>
          <a:blip r:embed="rId1"/>
          <a:stretch>
            <a:fillRect/>
          </a:stretch>
        </p:blipFill>
        <p:spPr>
          <a:xfrm>
            <a:off x="176530" y="0"/>
            <a:ext cx="11760200" cy="1229360"/>
          </a:xfrm>
          <a:prstGeom prst="rect">
            <a:avLst/>
          </a:prstGeom>
          <a:noFill/>
          <a:ln w="9525">
            <a:noFill/>
          </a:ln>
        </p:spPr>
      </p:pic>
      <p:pic>
        <p:nvPicPr>
          <p:cNvPr id="14341" name="Picture 7"/>
          <p:cNvPicPr>
            <a:picLocks noChangeAspect="1"/>
          </p:cNvPicPr>
          <p:nvPr/>
        </p:nvPicPr>
        <p:blipFill>
          <a:blip r:embed="rId2"/>
          <a:stretch>
            <a:fillRect/>
          </a:stretch>
        </p:blipFill>
        <p:spPr>
          <a:xfrm>
            <a:off x="0" y="5770245"/>
            <a:ext cx="12192000" cy="108775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838200" y="982663"/>
            <a:ext cx="10515600" cy="1327150"/>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Advantages</a:t>
            </a:r>
            <a:endParaRPr lang="en-IN" altLang="x-none" dirty="0">
              <a:latin typeface="Times New Roman" panose="02020603050405020304" pitchFamily="18" charset="0"/>
              <a:ea typeface="Times New Roman" panose="02020603050405020304" pitchFamily="18" charset="0"/>
            </a:endParaRPr>
          </a:p>
        </p:txBody>
      </p:sp>
      <p:sp>
        <p:nvSpPr>
          <p:cNvPr id="14339" name="Content Placeholder 2"/>
          <p:cNvSpPr>
            <a:spLocks noGrp="1"/>
          </p:cNvSpPr>
          <p:nvPr>
            <p:ph idx="1"/>
          </p:nvPr>
        </p:nvSpPr>
        <p:spPr>
          <a:xfrm>
            <a:off x="838200" y="2091690"/>
            <a:ext cx="10515600" cy="4351338"/>
          </a:xfrm>
        </p:spPr>
        <p:txBody>
          <a:bodyPr vert="horz" wrap="square" lIns="91440" tIns="45720" rIns="91440" bIns="45720" anchor="t" anchorCtr="0"/>
          <a:p>
            <a:r>
              <a:rPr lang="en-US" altLang="en-US" sz="1800" dirty="0">
                <a:latin typeface="Times New Roman" panose="02020603050405020304" pitchFamily="18" charset="0"/>
                <a:ea typeface="Times New Roman" panose="02020603050405020304" pitchFamily="18" charset="0"/>
              </a:rPr>
              <a:t>Significantly improved forecast accuracy, especially during volatile and unpredictable market periods, due to the synergistic power of ensemble deep learning.</a:t>
            </a:r>
            <a:endParaRPr lang="en-US" altLang="en-US" sz="1800" dirty="0">
              <a:latin typeface="Times New Roman" panose="02020603050405020304" pitchFamily="18" charset="0"/>
              <a:ea typeface="Times New Roman" panose="02020603050405020304" pitchFamily="18" charset="0"/>
            </a:endParaRPr>
          </a:p>
          <a:p>
            <a:r>
              <a:rPr lang="en-US" altLang="en-US" sz="1800" dirty="0">
                <a:latin typeface="Times New Roman" panose="02020603050405020304" pitchFamily="18" charset="0"/>
                <a:ea typeface="Times New Roman" panose="02020603050405020304" pitchFamily="18" charset="0"/>
              </a:rPr>
              <a:t>Ability to generate reliable predictions across both short-term and long-term horizons, meeting the diverse needs of different investor profiles.</a:t>
            </a:r>
            <a:endParaRPr lang="en-US" altLang="en-US" sz="1800" dirty="0">
              <a:latin typeface="Times New Roman" panose="02020603050405020304" pitchFamily="18" charset="0"/>
              <a:ea typeface="Times New Roman" panose="02020603050405020304" pitchFamily="18" charset="0"/>
            </a:endParaRPr>
          </a:p>
          <a:p>
            <a:r>
              <a:rPr lang="en-US" altLang="en-US" sz="1800" dirty="0">
                <a:latin typeface="Times New Roman" panose="02020603050405020304" pitchFamily="18" charset="0"/>
                <a:ea typeface="Times New Roman" panose="02020603050405020304" pitchFamily="18" charset="0"/>
              </a:rPr>
              <a:t>Automation permeates the entire workflow, from data acquisition to model retraining and prediction generation, freeing users from time-consuming manual tasks.</a:t>
            </a:r>
            <a:endParaRPr lang="en-US" altLang="en-US" sz="1800" dirty="0">
              <a:latin typeface="Times New Roman" panose="02020603050405020304" pitchFamily="18" charset="0"/>
              <a:ea typeface="Times New Roman" panose="02020603050405020304" pitchFamily="18" charset="0"/>
            </a:endParaRPr>
          </a:p>
          <a:p>
            <a:r>
              <a:rPr lang="en-US" altLang="en-US" sz="1800" dirty="0">
                <a:latin typeface="Times New Roman" panose="02020603050405020304" pitchFamily="18" charset="0"/>
                <a:ea typeface="Times New Roman" panose="02020603050405020304" pitchFamily="18" charset="0"/>
              </a:rPr>
              <a:t>The platform is built entirely on open-source technologies, resulting in zero licensing or operational costs and fostering community-driven enhancements.</a:t>
            </a:r>
            <a:endParaRPr lang="en-US" altLang="en-US" sz="1800" dirty="0">
              <a:latin typeface="Times New Roman" panose="02020603050405020304" pitchFamily="18" charset="0"/>
              <a:ea typeface="Times New Roman" panose="02020603050405020304" pitchFamily="18" charset="0"/>
            </a:endParaRPr>
          </a:p>
          <a:p>
            <a:r>
              <a:rPr lang="en-US" altLang="en-US" sz="1800" dirty="0">
                <a:latin typeface="Times New Roman" panose="02020603050405020304" pitchFamily="18" charset="0"/>
                <a:ea typeface="Times New Roman" panose="02020603050405020304" pitchFamily="18" charset="0"/>
              </a:rPr>
              <a:t>The use of SQLite ensures that the underlying database remains lightweight, fast, and capable of scaling with growing datasets without compromising performance, complemented by an intuitive and visually engaging dashboard for easy interpretation and informed actions.</a:t>
            </a:r>
            <a:endParaRPr lang="en-US" altLang="en-US" sz="1800" dirty="0">
              <a:latin typeface="Times New Roman" panose="02020603050405020304" pitchFamily="18" charset="0"/>
              <a:ea typeface="Times New Roman" panose="02020603050405020304" pitchFamily="18" charset="0"/>
            </a:endParaRPr>
          </a:p>
          <a:p>
            <a:pPr marL="0" indent="0">
              <a:buNone/>
            </a:pPr>
            <a:endParaRPr lang="en-US" altLang="en-US" sz="1800"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4341" name="Picture 7"/>
          <p:cNvPicPr>
            <a:picLocks noChangeAspect="1"/>
          </p:cNvPicPr>
          <p:nvPr/>
        </p:nvPicPr>
        <p:blipFill>
          <a:blip r:embed="rId1"/>
          <a:stretch>
            <a:fillRect/>
          </a:stretch>
        </p:blipFill>
        <p:spPr>
          <a:xfrm>
            <a:off x="-635" y="5676900"/>
            <a:ext cx="12192635" cy="1181100"/>
          </a:xfrm>
          <a:prstGeom prst="rect">
            <a:avLst/>
          </a:prstGeom>
          <a:noFill/>
          <a:ln w="9525">
            <a:noFill/>
          </a:ln>
        </p:spPr>
      </p:pic>
      <p:pic>
        <p:nvPicPr>
          <p:cNvPr id="14342"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838200" y="906463"/>
            <a:ext cx="10515600" cy="1325562"/>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System Requirements</a:t>
            </a:r>
            <a:endParaRPr lang="en-IN" altLang="x-none"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821690" y="2032000"/>
            <a:ext cx="10515600" cy="4351338"/>
          </a:xfrm>
        </p:spPr>
        <p:txBody>
          <a:bodyPr vert="horz" lIns="91440" tIns="45720" rIns="91440" bIns="45720" rtlCol="0">
            <a:normAutofit fontScale="9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Hardware </a:t>
            </a:r>
            <a:r>
              <a:rPr kumimoji="0" lang="en-I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Requirement</a:t>
            </a:r>
            <a:endParaRPr kumimoji="0" lang="en-I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435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defRPr/>
            </a:pPr>
            <a:r>
              <a:rPr kumimoji="0" lang="en-US"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Computational Resources: Requires an Intel i5 processor or higher, a minimum of 8 GB RAM for model training and data processing, and at least 10 GB of free disk space for historical data and model artifacts.</a:t>
            </a:r>
            <a:endParaRPr kumimoji="0" lang="en-US"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435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defRPr/>
            </a:pPr>
            <a:r>
              <a:rPr kumimoji="0" lang="en-US"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Internet Connectivity: An internet connection is necessary for automated retrieval of up-to-date gold price data and potential model updates.</a:t>
            </a:r>
            <a:endParaRPr kumimoji="0" lang="en-I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I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Software </a:t>
            </a:r>
            <a:r>
              <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Requirement</a:t>
            </a:r>
            <a:endParaRPr kumimoji="0" lang="en-IN"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Operating Environment: The system is compatible with Windows and Linux, developed in Python 3.10 or later, and utilizes SQLite for efficient data storage.</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Key Libraries: It leverages NumPy and Pandas for data manipulation, PyTorch for deep learning models, and Streamlit with Plotly for interactive dashboards and visualizations.</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sz="2800" b="0" i="0" u="none" strike="noStrike" kern="1200" cap="none" spc="0" normalizeH="0" baseline="0" noProof="0" dirty="0">
                <a:ln>
                  <a:noFill/>
                </a:ln>
                <a:solidFill>
                  <a:schemeClr val="tx1"/>
                </a:solidFill>
                <a:effectLst/>
                <a:uLnTx/>
                <a:uFillTx/>
                <a:latin typeface="+mn-lt"/>
                <a:ea typeface="+mn-ea"/>
                <a:cs typeface="+mn-cs"/>
              </a:rPr>
              <a:t>   </a:t>
            </a:r>
            <a:endParaRPr kumimoji="0" lang="en-I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5365" name="Picture 6"/>
          <p:cNvPicPr>
            <a:picLocks noChangeAspect="1"/>
          </p:cNvPicPr>
          <p:nvPr/>
        </p:nvPicPr>
        <p:blipFill>
          <a:blip r:embed="rId1"/>
          <a:stretch>
            <a:fillRect/>
          </a:stretch>
        </p:blipFill>
        <p:spPr>
          <a:xfrm>
            <a:off x="0" y="5676900"/>
            <a:ext cx="12192635" cy="1181100"/>
          </a:xfrm>
          <a:prstGeom prst="rect">
            <a:avLst/>
          </a:prstGeom>
          <a:noFill/>
          <a:ln w="9525">
            <a:noFill/>
          </a:ln>
        </p:spPr>
      </p:pic>
      <p:pic>
        <p:nvPicPr>
          <p:cNvPr id="15366"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725488" y="1023938"/>
            <a:ext cx="10515600" cy="1325562"/>
          </a:xfrm>
        </p:spPr>
        <p:txBody>
          <a:bodyPr vert="horz" wrap="square" lIns="91440" tIns="45720" rIns="91440" bIns="45720" anchor="ctr" anchorCtr="0"/>
          <a:p>
            <a:pPr>
              <a:buNone/>
            </a:pPr>
            <a:r>
              <a:rPr lang="en-IN" altLang="x-none" sz="4000" dirty="0">
                <a:latin typeface="Times New Roman" panose="02020603050405020304" pitchFamily="18" charset="0"/>
                <a:cs typeface="Times New Roman" panose="02020603050405020304" pitchFamily="18" charset="0"/>
              </a:rPr>
              <a:t>System Architecture</a:t>
            </a:r>
            <a:endParaRPr lang="en-IN" altLang="x-none" sz="4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Slide Number Placeholder 2"/>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6388" name="Picture 2"/>
          <p:cNvPicPr>
            <a:picLocks noChangeAspect="1"/>
          </p:cNvPicPr>
          <p:nvPr/>
        </p:nvPicPr>
        <p:blipFill>
          <a:blip r:embed="rId1"/>
          <a:stretch>
            <a:fillRect/>
          </a:stretch>
        </p:blipFill>
        <p:spPr>
          <a:xfrm>
            <a:off x="176213" y="0"/>
            <a:ext cx="11760200" cy="1301750"/>
          </a:xfrm>
          <a:prstGeom prst="rect">
            <a:avLst/>
          </a:prstGeom>
          <a:noFill/>
          <a:ln w="9525">
            <a:noFill/>
          </a:ln>
        </p:spPr>
      </p:pic>
      <p:sp>
        <p:nvSpPr>
          <p:cNvPr id="16389" name="Content Placeholder 7"/>
          <p:cNvSpPr>
            <a:spLocks noGrp="1"/>
          </p:cNvSpPr>
          <p:nvPr>
            <p:ph idx="1"/>
          </p:nvPr>
        </p:nvSpPr>
        <p:spPr>
          <a:xfrm>
            <a:off x="813435" y="2059305"/>
            <a:ext cx="6990080" cy="4351655"/>
          </a:xfrm>
        </p:spPr>
        <p:txBody>
          <a:bodyPr vert="horz" wrap="square" lIns="91440" tIns="45720" rIns="91440" bIns="45720" anchor="t" anchorCtr="0"/>
          <a:p>
            <a:r>
              <a:rPr lang="en-US" altLang="en-US" sz="1600" b="1" dirty="0"/>
              <a:t>Data Collection &amp; Processing:</a:t>
            </a:r>
            <a:r>
              <a:rPr lang="en-US" altLang="en-US" sz="1600" dirty="0"/>
              <a:t> Historical gold prices and financial indicators are collected from various sources, then cleaned, transformed, and enhanced with technical indicators using Pandas.</a:t>
            </a:r>
            <a:endParaRPr lang="en-US" altLang="en-US" sz="1600" dirty="0"/>
          </a:p>
          <a:p>
            <a:r>
              <a:rPr lang="en-US" altLang="en-US" sz="1600" b="1" dirty="0"/>
              <a:t>Database Management:</a:t>
            </a:r>
            <a:r>
              <a:rPr lang="en-US" altLang="en-US" sz="1600" dirty="0"/>
              <a:t> Processed data and forecasts are stored in SQLite, providing a lightweight and cost-effective local storage solution.</a:t>
            </a:r>
            <a:endParaRPr lang="en-US" altLang="en-US" sz="1600" dirty="0"/>
          </a:p>
          <a:p>
            <a:r>
              <a:rPr lang="en-US" altLang="en-US" sz="1600" b="1" dirty="0"/>
              <a:t>Forecasting Layer:</a:t>
            </a:r>
            <a:r>
              <a:rPr lang="en-US" altLang="en-US" sz="1600" dirty="0"/>
              <a:t>  Chronos-T5 and N-HiTS generate independent forecasts, capturing short-term patterns and long-term trends respectively.</a:t>
            </a:r>
            <a:endParaRPr lang="en-US" altLang="en-US" sz="1600" dirty="0"/>
          </a:p>
          <a:p>
            <a:pPr algn="just"/>
            <a:r>
              <a:rPr lang="en-US" altLang="en-US" sz="1600" b="1" dirty="0"/>
              <a:t>Ensemble Prediction: </a:t>
            </a:r>
            <a:r>
              <a:rPr lang="en-US" altLang="en-US" sz="1600" dirty="0"/>
              <a:t>Predictions from Chronos-T5 and N-HiTS are combined using a weighted ensemble approach to enhance forecasting stability and accuracy.</a:t>
            </a:r>
            <a:endParaRPr lang="en-US" altLang="en-US" sz="1600" dirty="0"/>
          </a:p>
          <a:p>
            <a:r>
              <a:rPr lang="en-US" altLang="en-US" sz="1600" b="1" dirty="0"/>
              <a:t>Visualization &amp; Automation:</a:t>
            </a:r>
            <a:r>
              <a:rPr lang="en-US" altLang="en-US" sz="1600" dirty="0"/>
              <a:t> A Streamlit dashboard visualizes forecasts and trends, backed by a Python pipeline automating daily data updates and refreshes.</a:t>
            </a:r>
            <a:endParaRPr lang="en-US" altLang="en-US" sz="1600" dirty="0"/>
          </a:p>
        </p:txBody>
      </p:sp>
      <p:pic>
        <p:nvPicPr>
          <p:cNvPr id="5" name="Picture 4" descr="WhatsApp Image 2026-05-09 at 10.22.53 AM"/>
          <p:cNvPicPr>
            <a:picLocks noChangeAspect="1"/>
          </p:cNvPicPr>
          <p:nvPr/>
        </p:nvPicPr>
        <p:blipFill>
          <a:blip r:embed="rId2"/>
          <a:stretch>
            <a:fillRect/>
          </a:stretch>
        </p:blipFill>
        <p:spPr>
          <a:xfrm>
            <a:off x="7883525" y="1284605"/>
            <a:ext cx="4154170" cy="4222115"/>
          </a:xfrm>
          <a:prstGeom prst="rect">
            <a:avLst/>
          </a:prstGeom>
        </p:spPr>
      </p:pic>
      <p:pic>
        <p:nvPicPr>
          <p:cNvPr id="15365" name="Picture 6"/>
          <p:cNvPicPr>
            <a:picLocks noChangeAspect="1"/>
          </p:cNvPicPr>
          <p:nvPr/>
        </p:nvPicPr>
        <p:blipFill>
          <a:blip r:embed="rId3"/>
          <a:stretch>
            <a:fillRect/>
          </a:stretch>
        </p:blipFill>
        <p:spPr>
          <a:xfrm>
            <a:off x="0" y="5676900"/>
            <a:ext cx="12192000" cy="11811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a:xfrm>
            <a:off x="838200" y="868363"/>
            <a:ext cx="10515600" cy="1325562"/>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Modules</a:t>
            </a:r>
            <a:endParaRPr lang="en-IN" altLang="x-none" dirty="0">
              <a:latin typeface="Times New Roman" panose="02020603050405020304" pitchFamily="18" charset="0"/>
              <a:ea typeface="Times New Roman" panose="02020603050405020304" pitchFamily="18" charset="0"/>
            </a:endParaRPr>
          </a:p>
        </p:txBody>
      </p:sp>
      <p:sp>
        <p:nvSpPr>
          <p:cNvPr id="17411" name="Content Placeholder 2"/>
          <p:cNvSpPr>
            <a:spLocks noGrp="1"/>
          </p:cNvSpPr>
          <p:nvPr>
            <p:ph idx="1"/>
          </p:nvPr>
        </p:nvSpPr>
        <p:spPr>
          <a:xfrm>
            <a:off x="838200" y="2506345"/>
            <a:ext cx="10515600" cy="4351338"/>
          </a:xfrm>
        </p:spPr>
        <p:txBody>
          <a:bodyPr vert="horz" wrap="square" lIns="91440" tIns="45720" rIns="91440" bIns="45720" anchor="t" anchorCtr="0"/>
          <a:p>
            <a:pPr marL="457200" indent="-457200">
              <a:buFont typeface="Calibri Light" panose="020F0302020204030204" charset="0"/>
              <a:buAutoNum type="arabicPeriod"/>
            </a:pPr>
            <a:r>
              <a:rPr lang="en-US" altLang="en-US" sz="2000" dirty="0"/>
              <a:t>Financial Data Acquisition Module</a:t>
            </a:r>
            <a:endParaRPr lang="en-US" altLang="en-US" sz="2000" dirty="0"/>
          </a:p>
          <a:p>
            <a:pPr marL="457200" indent="-457200">
              <a:buFont typeface="Calibri Light" panose="020F0302020204030204" charset="0"/>
              <a:buAutoNum type="arabicPeriod"/>
            </a:pPr>
            <a:r>
              <a:rPr lang="en-US" altLang="en-US" sz="2000" dirty="0"/>
              <a:t>Feature Engineering &amp; Data Processing Module</a:t>
            </a:r>
            <a:endParaRPr lang="en-IN" altLang="x-none" sz="2000" dirty="0"/>
          </a:p>
          <a:p>
            <a:pPr marL="457200" indent="-457200">
              <a:buFont typeface="Calibri Light" panose="020F0302020204030204" charset="0"/>
              <a:buAutoNum type="arabicPeriod"/>
            </a:pPr>
            <a:r>
              <a:rPr lang="en-US" altLang="en-US" sz="2000" dirty="0"/>
              <a:t>Chronos-T5 &amp; N-HiTS Forecasting Module</a:t>
            </a:r>
            <a:endParaRPr lang="en-US" altLang="en-US" sz="2000" dirty="0"/>
          </a:p>
          <a:p>
            <a:pPr marL="457200" indent="-457200">
              <a:buFont typeface="Calibri Light" panose="020F0302020204030204" charset="0"/>
              <a:buAutoNum type="arabicPeriod"/>
            </a:pPr>
            <a:r>
              <a:rPr lang="en-US" altLang="en-US" sz="2000" dirty="0"/>
              <a:t>Weighted Ensemble Prediction Module</a:t>
            </a:r>
            <a:endParaRPr lang="en-US" altLang="en-US" sz="2000" dirty="0"/>
          </a:p>
          <a:p>
            <a:pPr marL="457200" indent="-457200">
              <a:buFont typeface="Calibri Light" panose="020F0302020204030204" charset="0"/>
              <a:buAutoNum type="arabicPeriod"/>
            </a:pPr>
            <a:r>
              <a:rPr lang="en-US" altLang="en-US" sz="2000" dirty="0"/>
              <a:t>Streamlit Visualization &amp; Deployment Module</a:t>
            </a:r>
            <a:endParaRPr lang="en-US" altLang="en-US" sz="2000" dirty="0"/>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7413" name="Picture 6"/>
          <p:cNvPicPr>
            <a:picLocks noChangeAspect="1"/>
          </p:cNvPicPr>
          <p:nvPr/>
        </p:nvPicPr>
        <p:blipFill>
          <a:blip r:embed="rId1"/>
          <a:stretch>
            <a:fillRect/>
          </a:stretch>
        </p:blipFill>
        <p:spPr>
          <a:xfrm>
            <a:off x="0" y="5676900"/>
            <a:ext cx="12192635" cy="1181100"/>
          </a:xfrm>
          <a:prstGeom prst="rect">
            <a:avLst/>
          </a:prstGeom>
          <a:noFill/>
          <a:ln w="9525">
            <a:noFill/>
          </a:ln>
        </p:spPr>
      </p:pic>
      <p:pic>
        <p:nvPicPr>
          <p:cNvPr id="17414"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Module </a:t>
            </a:r>
            <a: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Description</a:t>
            </a:r>
            <a:endPar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18435" name="Content Placeholder 2"/>
          <p:cNvSpPr>
            <a:spLocks noGrp="1"/>
          </p:cNvSpPr>
          <p:nvPr>
            <p:ph idx="1"/>
          </p:nvPr>
        </p:nvSpPr>
        <p:spPr>
          <a:xfrm>
            <a:off x="838200" y="1825625"/>
            <a:ext cx="10515600" cy="5032375"/>
          </a:xfrm>
        </p:spPr>
        <p:txBody>
          <a:bodyPr vert="horz" wrap="square" lIns="91440" tIns="45720" rIns="91440" bIns="45720" anchor="t" anchorCtr="0"/>
          <a:p>
            <a:pPr marL="0" indent="0">
              <a:buNone/>
            </a:pPr>
            <a:endParaRPr lang="en-IN" altLang="x-none" sz="2000" dirty="0"/>
          </a:p>
          <a:p>
            <a:pPr marL="0" indent="0">
              <a:buNone/>
            </a:pPr>
            <a:r>
              <a:rPr lang="en-IN" altLang="x-none" sz="2000" b="1" dirty="0"/>
              <a:t>1.</a:t>
            </a:r>
            <a:r>
              <a:rPr lang="en-US" altLang="en-US" sz="2000" dirty="0"/>
              <a:t> </a:t>
            </a:r>
            <a:r>
              <a:rPr lang="en-US" altLang="en-US" sz="2000" b="1" dirty="0"/>
              <a:t>Data Collection &amp; Ingestion Module:</a:t>
            </a:r>
            <a:endParaRPr lang="en-US" altLang="en-US" sz="2000" dirty="0"/>
          </a:p>
          <a:p>
            <a:pPr marL="0" indent="0">
              <a:buNone/>
            </a:pPr>
            <a:endParaRPr lang="en-US" altLang="en-US" sz="2000" dirty="0"/>
          </a:p>
          <a:p>
            <a:r>
              <a:rPr lang="en-US" altLang="en-US" sz="2000" dirty="0"/>
              <a:t>Collects historical gold price data from financial sources such as Yahoo Finance and LBMA.</a:t>
            </a:r>
            <a:endParaRPr lang="en-US" altLang="en-US" sz="2000" dirty="0"/>
          </a:p>
          <a:p>
            <a:r>
              <a:rPr lang="en-US" altLang="en-US" sz="2000" dirty="0"/>
              <a:t>Fetches supporting financial indicators like USD Index and exchange rates.</a:t>
            </a:r>
            <a:endParaRPr lang="en-US" altLang="en-US" sz="2000" dirty="0"/>
          </a:p>
          <a:p>
            <a:r>
              <a:rPr lang="en-US" altLang="en-US" sz="2000" dirty="0"/>
              <a:t>Stores raw data in SQLite database for further processing.</a:t>
            </a:r>
            <a:endParaRPr lang="en-US" altLang="en-US" sz="2000" dirty="0"/>
          </a:p>
          <a:p>
            <a:r>
              <a:rPr lang="en-US" altLang="en-US" sz="2000" dirty="0"/>
              <a:t>Ensures updated and continuous data availability for forecasting.</a:t>
            </a:r>
            <a:endParaRPr lang="en-US" altLang="en-US" sz="2000" dirty="0"/>
          </a:p>
          <a:p>
            <a:r>
              <a:rPr lang="en-US" altLang="en-US" sz="2000" dirty="0"/>
              <a:t>Forms the foundation of the entire forecasting pipeline.</a:t>
            </a:r>
            <a:endParaRPr lang="en-US" altLang="en-US" sz="2000" dirty="0"/>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8437" name="Picture 2"/>
          <p:cNvPicPr>
            <a:picLocks noChangeAspect="1"/>
          </p:cNvPicPr>
          <p:nvPr/>
        </p:nvPicPr>
        <p:blipFill>
          <a:blip r:embed="rId1"/>
          <a:stretch>
            <a:fillRect/>
          </a:stretch>
        </p:blipFill>
        <p:spPr>
          <a:xfrm>
            <a:off x="176213" y="0"/>
            <a:ext cx="11760200" cy="1301750"/>
          </a:xfrm>
          <a:prstGeom prst="rect">
            <a:avLst/>
          </a:prstGeom>
          <a:noFill/>
          <a:ln w="9525">
            <a:noFill/>
          </a:ln>
        </p:spPr>
      </p:pic>
      <p:pic>
        <p:nvPicPr>
          <p:cNvPr id="24580" name="Picture 6"/>
          <p:cNvPicPr>
            <a:picLocks noChangeAspect="1"/>
          </p:cNvPicPr>
          <p:nvPr/>
        </p:nvPicPr>
        <p:blipFill>
          <a:blip r:embed="rId2"/>
          <a:stretch>
            <a:fillRect/>
          </a:stretch>
        </p:blipFill>
        <p:spPr>
          <a:xfrm>
            <a:off x="0" y="5720080"/>
            <a:ext cx="12192000" cy="11811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Module </a:t>
            </a:r>
            <a: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Description</a:t>
            </a:r>
            <a:endPar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19459" name="Content Placeholder 2"/>
          <p:cNvSpPr>
            <a:spLocks noGrp="1"/>
          </p:cNvSpPr>
          <p:nvPr>
            <p:ph idx="1"/>
          </p:nvPr>
        </p:nvSpPr>
        <p:spPr/>
        <p:txBody>
          <a:bodyPr vert="horz" wrap="square" lIns="91440" tIns="45720" rIns="91440" bIns="45720" anchor="t" anchorCtr="0"/>
          <a:p>
            <a:pPr marL="0" indent="0">
              <a:buNone/>
            </a:pPr>
            <a:endParaRPr lang="en-IN" altLang="x-none" sz="2000" dirty="0"/>
          </a:p>
          <a:p>
            <a:pPr marL="0" indent="0">
              <a:buNone/>
            </a:pPr>
            <a:r>
              <a:rPr lang="en-IN" altLang="x-none" sz="2000" b="1" dirty="0"/>
              <a:t>2.</a:t>
            </a:r>
            <a:r>
              <a:rPr lang="en-US" altLang="en-IN" sz="2000" b="1" dirty="0"/>
              <a:t> </a:t>
            </a:r>
            <a:r>
              <a:rPr lang="en-US" altLang="en-US" sz="2000" b="1" dirty="0"/>
              <a:t>Data Preprocessing &amp; Feature Engineering Module:</a:t>
            </a:r>
            <a:endParaRPr lang="en-US" altLang="en-US" sz="2000" b="1" dirty="0"/>
          </a:p>
          <a:p>
            <a:pPr marL="0" indent="0">
              <a:buNone/>
            </a:pPr>
            <a:endParaRPr lang="en-US" altLang="en-US" sz="2000" dirty="0"/>
          </a:p>
          <a:p>
            <a:r>
              <a:rPr lang="en-US" altLang="en-US" sz="2000" dirty="0"/>
              <a:t>Cleans and formats collected time-series data.</a:t>
            </a:r>
            <a:endParaRPr lang="en-US" altLang="en-US" sz="2000" dirty="0"/>
          </a:p>
          <a:p>
            <a:r>
              <a:rPr lang="en-US" altLang="en-US" sz="2000" dirty="0"/>
              <a:t>Handles missing values and date alignment issues.</a:t>
            </a:r>
            <a:endParaRPr lang="en-US" altLang="en-US" sz="2000" dirty="0"/>
          </a:p>
          <a:p>
            <a:r>
              <a:rPr lang="en-US" altLang="en-US" sz="2000" dirty="0"/>
              <a:t>Generates technical indicators such as SMA, EMA, RSI, and MACD.</a:t>
            </a:r>
            <a:endParaRPr lang="en-US" altLang="en-US" sz="2000" dirty="0"/>
          </a:p>
          <a:p>
            <a:r>
              <a:rPr lang="en-US" altLang="en-US" sz="2000" dirty="0"/>
              <a:t>Converts raw market data into model-ready features.</a:t>
            </a:r>
            <a:endParaRPr lang="en-US" altLang="en-US" sz="2000" dirty="0"/>
          </a:p>
          <a:p>
            <a:r>
              <a:rPr lang="en-US" altLang="en-US" sz="2000" dirty="0"/>
              <a:t>Improves forecasting quality and model performance.</a:t>
            </a:r>
            <a:endParaRPr lang="en-US" altLang="en-US" sz="2000" dirty="0"/>
          </a:p>
          <a:p>
            <a:pPr marL="0" indent="0">
              <a:buNone/>
            </a:pPr>
            <a:endParaRPr lang="en-IN" altLang="x-none" sz="2000" dirty="0"/>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19461" name="Picture 2"/>
          <p:cNvPicPr>
            <a:picLocks noChangeAspect="1"/>
          </p:cNvPicPr>
          <p:nvPr/>
        </p:nvPicPr>
        <p:blipFill>
          <a:blip r:embed="rId1"/>
          <a:stretch>
            <a:fillRect/>
          </a:stretch>
        </p:blipFill>
        <p:spPr>
          <a:xfrm>
            <a:off x="176213" y="0"/>
            <a:ext cx="11760200" cy="1301750"/>
          </a:xfrm>
          <a:prstGeom prst="rect">
            <a:avLst/>
          </a:prstGeom>
          <a:noFill/>
          <a:ln w="9525">
            <a:noFill/>
          </a:ln>
        </p:spPr>
      </p:pic>
      <p:pic>
        <p:nvPicPr>
          <p:cNvPr id="24580" name="Picture 6"/>
          <p:cNvPicPr>
            <a:picLocks noChangeAspect="1"/>
          </p:cNvPicPr>
          <p:nvPr/>
        </p:nvPicPr>
        <p:blipFill>
          <a:blip r:embed="rId2"/>
          <a:stretch>
            <a:fillRect/>
          </a:stretch>
        </p:blipFill>
        <p:spPr>
          <a:xfrm>
            <a:off x="0" y="5726430"/>
            <a:ext cx="12192635" cy="11811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Module Description</a:t>
            </a:r>
            <a:b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br>
            <a:endParaRPr kumimoji="0" lang="en-US" alt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0485" name="Picture 2"/>
          <p:cNvPicPr>
            <a:picLocks noChangeAspect="1"/>
          </p:cNvPicPr>
          <p:nvPr/>
        </p:nvPicPr>
        <p:blipFill>
          <a:blip r:embed="rId1"/>
          <a:stretch>
            <a:fillRect/>
          </a:stretch>
        </p:blipFill>
        <p:spPr>
          <a:xfrm>
            <a:off x="176213" y="0"/>
            <a:ext cx="11760200" cy="1301750"/>
          </a:xfrm>
          <a:prstGeom prst="rect">
            <a:avLst/>
          </a:prstGeom>
          <a:noFill/>
          <a:ln w="9525">
            <a:noFill/>
          </a:ln>
        </p:spPr>
      </p:pic>
      <p:sp>
        <p:nvSpPr>
          <p:cNvPr id="3" name="Text Box 2"/>
          <p:cNvSpPr txBox="1"/>
          <p:nvPr/>
        </p:nvSpPr>
        <p:spPr>
          <a:xfrm>
            <a:off x="899795" y="2112645"/>
            <a:ext cx="5939790" cy="368300"/>
          </a:xfrm>
          <a:prstGeom prst="rect">
            <a:avLst/>
          </a:prstGeom>
          <a:noFill/>
        </p:spPr>
        <p:txBody>
          <a:bodyPr wrap="square" rtlCol="0">
            <a:spAutoFit/>
          </a:bodyPr>
          <a:p>
            <a:r>
              <a:rPr lang="en-US" altLang="en-US" b="1"/>
              <a:t>3. Forecasting Model Development Module:</a:t>
            </a:r>
            <a:endParaRPr lang="en-US" altLang="en-US" b="1"/>
          </a:p>
        </p:txBody>
      </p:sp>
      <p:sp>
        <p:nvSpPr>
          <p:cNvPr id="5" name="Text Box 4"/>
          <p:cNvSpPr txBox="1"/>
          <p:nvPr/>
        </p:nvSpPr>
        <p:spPr>
          <a:xfrm>
            <a:off x="956945" y="2696845"/>
            <a:ext cx="8950325" cy="2168525"/>
          </a:xfrm>
          <a:prstGeom prst="rect">
            <a:avLst/>
          </a:prstGeom>
          <a:noFill/>
        </p:spPr>
        <p:txBody>
          <a:bodyPr wrap="square" rtlCol="0">
            <a:spAutoFit/>
          </a:bodyPr>
          <a:p>
            <a:pPr marL="285750" indent="-285750">
              <a:lnSpc>
                <a:spcPct val="150000"/>
              </a:lnSpc>
              <a:buFont typeface="Arial" panose="020B0604020202020204" pitchFamily="34" charset="0"/>
              <a:buChar char="•"/>
            </a:pPr>
            <a:r>
              <a:rPr lang="en-US" altLang="en-US"/>
              <a:t>Uses Chronos-T5 for short-term pattern forecasting.</a:t>
            </a:r>
            <a:endParaRPr lang="en-US" altLang="en-US"/>
          </a:p>
          <a:p>
            <a:pPr marL="285750" indent="-285750">
              <a:lnSpc>
                <a:spcPct val="150000"/>
              </a:lnSpc>
              <a:buFont typeface="Arial" panose="020B0604020202020204" pitchFamily="34" charset="0"/>
              <a:buChar char="•"/>
            </a:pPr>
            <a:r>
              <a:rPr lang="en-US" altLang="en-US"/>
              <a:t>Uses N-HiTS for long-term trend and seasonality learning.</a:t>
            </a:r>
            <a:endParaRPr lang="en-US" altLang="en-US"/>
          </a:p>
          <a:p>
            <a:pPr marL="285750" indent="-285750">
              <a:lnSpc>
                <a:spcPct val="150000"/>
              </a:lnSpc>
              <a:buFont typeface="Arial" panose="020B0604020202020204" pitchFamily="34" charset="0"/>
              <a:buChar char="•"/>
            </a:pPr>
            <a:r>
              <a:rPr lang="en-US" altLang="en-US"/>
              <a:t>Trains and evaluates deep learning forecasting models.</a:t>
            </a:r>
            <a:endParaRPr lang="en-US" altLang="en-US"/>
          </a:p>
          <a:p>
            <a:pPr marL="285750" indent="-285750">
              <a:lnSpc>
                <a:spcPct val="150000"/>
              </a:lnSpc>
              <a:buFont typeface="Arial" panose="020B0604020202020204" pitchFamily="34" charset="0"/>
              <a:buChar char="•"/>
            </a:pPr>
            <a:r>
              <a:rPr lang="en-US" altLang="en-US"/>
              <a:t>Supports multi-horizon forecasting for day, week, and month predictions.</a:t>
            </a:r>
            <a:endParaRPr lang="en-US" altLang="en-US"/>
          </a:p>
          <a:p>
            <a:pPr marL="285750" indent="-285750">
              <a:lnSpc>
                <a:spcPct val="150000"/>
              </a:lnSpc>
              <a:buFont typeface="Arial" panose="020B0604020202020204" pitchFamily="34" charset="0"/>
              <a:buChar char="•"/>
            </a:pPr>
            <a:r>
              <a:rPr lang="en-US" altLang="en-US"/>
              <a:t>Produces future gold price forecasts using historical trends.</a:t>
            </a:r>
            <a:endParaRPr lang="en-US" altLang="en-US"/>
          </a:p>
        </p:txBody>
      </p:sp>
      <p:pic>
        <p:nvPicPr>
          <p:cNvPr id="24580" name="Picture 6"/>
          <p:cNvPicPr>
            <a:picLocks noChangeAspect="1"/>
          </p:cNvPicPr>
          <p:nvPr/>
        </p:nvPicPr>
        <p:blipFill>
          <a:blip r:embed="rId2"/>
          <a:stretch>
            <a:fillRect/>
          </a:stretch>
        </p:blipFill>
        <p:spPr>
          <a:xfrm>
            <a:off x="0" y="5726430"/>
            <a:ext cx="12192635" cy="118110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Module </a:t>
            </a:r>
            <a: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Description</a:t>
            </a:r>
            <a:endPar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p:cNvSpPr>
            <a:spLocks noGrp="1"/>
          </p:cNvSpPr>
          <p:nvPr>
            <p:ph idx="1"/>
          </p:nvPr>
        </p:nvSpPr>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000" b="1" i="0" u="none" strike="noStrike" kern="1200" cap="none" spc="0" normalizeH="0" baseline="0" noProof="0" dirty="0" smtClean="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sz="2000" b="1" i="0" u="none" strike="noStrike" kern="1200" cap="none" spc="0" normalizeH="0" baseline="0" noProof="0" dirty="0" smtClean="0">
                <a:ln>
                  <a:noFill/>
                </a:ln>
                <a:solidFill>
                  <a:schemeClr val="tx1"/>
                </a:solidFill>
                <a:effectLst/>
                <a:uLnTx/>
                <a:uFillTx/>
                <a:latin typeface="+mn-lt"/>
                <a:ea typeface="+mn-ea"/>
                <a:cs typeface="+mn-cs"/>
              </a:rPr>
              <a:t>4.</a:t>
            </a:r>
            <a:r>
              <a:rPr kumimoji="0" lang="en-US" altLang="en-US" sz="2000" b="1" i="0" u="none" strike="noStrike" kern="1200" cap="none" spc="0" normalizeH="0" baseline="0" noProof="0" dirty="0">
                <a:ln>
                  <a:noFill/>
                </a:ln>
                <a:solidFill>
                  <a:schemeClr val="tx1"/>
                </a:solidFill>
                <a:effectLst/>
                <a:uLnTx/>
                <a:uFillTx/>
                <a:latin typeface="+mn-lt"/>
                <a:ea typeface="+mn-ea"/>
                <a:cs typeface="+mn-cs"/>
              </a:rPr>
              <a:t>Ensemble Prediction System Module:</a:t>
            </a:r>
            <a:endParaRPr kumimoji="0" lang="en-US" altLang="en-US" sz="2000" b="1"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en-US" sz="2000" b="1"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Combines Chronos-T5 and N-HiTS predictions using weighted averaging.</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Reduces prediction variance and improves stability.</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Balances short-term and long-term forecasting strengths.</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Enhances overall forecasting accuracy compared to individual models.</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Generates final investor-focused ensemble predictions.</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00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1509" name="Picture 2"/>
          <p:cNvPicPr>
            <a:picLocks noChangeAspect="1"/>
          </p:cNvPicPr>
          <p:nvPr/>
        </p:nvPicPr>
        <p:blipFill>
          <a:blip r:embed="rId1"/>
          <a:stretch>
            <a:fillRect/>
          </a:stretch>
        </p:blipFill>
        <p:spPr>
          <a:xfrm>
            <a:off x="176213" y="0"/>
            <a:ext cx="11760200" cy="1301750"/>
          </a:xfrm>
          <a:prstGeom prst="rect">
            <a:avLst/>
          </a:prstGeom>
          <a:noFill/>
          <a:ln w="9525">
            <a:noFill/>
          </a:ln>
        </p:spPr>
      </p:pic>
      <p:pic>
        <p:nvPicPr>
          <p:cNvPr id="24580" name="Picture 6"/>
          <p:cNvPicPr>
            <a:picLocks noChangeAspect="1"/>
          </p:cNvPicPr>
          <p:nvPr/>
        </p:nvPicPr>
        <p:blipFill>
          <a:blip r:embed="rId2"/>
          <a:stretch>
            <a:fillRect/>
          </a:stretch>
        </p:blipFill>
        <p:spPr>
          <a:xfrm>
            <a:off x="0" y="5720080"/>
            <a:ext cx="12192635" cy="11811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br>
              <a:rPr kumimoji="0" lang="en-IN" sz="4400" b="0" i="0" u="none" strike="noStrike" kern="1200" cap="none" spc="0" normalizeH="0" baseline="0" noProof="0" dirty="0" smtClean="0">
                <a:ln>
                  <a:noFill/>
                </a:ln>
                <a:solidFill>
                  <a:schemeClr val="tx1"/>
                </a:solidFill>
                <a:effectLst/>
                <a:uLnTx/>
                <a:uFillTx/>
                <a:latin typeface="+mj-lt"/>
                <a:ea typeface="+mj-ea"/>
                <a:cs typeface="+mj-cs"/>
              </a:rPr>
            </a:br>
            <a:r>
              <a:rPr kumimoji="0" lang="en-IN"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Module </a:t>
            </a:r>
            <a:r>
              <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Description</a:t>
            </a:r>
            <a:endParaRPr kumimoji="0" lang="en-IN"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p:cNvSpPr>
            <a:spLocks noGrp="1"/>
          </p:cNvSpPr>
          <p:nvPr>
            <p:ph idx="1"/>
          </p:nvPr>
        </p:nvSpPr>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000" b="1" i="0" u="none" strike="noStrike" kern="1200" cap="none" spc="0" normalizeH="0" baseline="0" noProof="0" dirty="0" smtClean="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sz="2000" b="1" i="0" u="none" strike="noStrike" kern="1200" cap="none" spc="0" normalizeH="0" baseline="0" noProof="0" dirty="0" smtClean="0">
                <a:ln>
                  <a:noFill/>
                </a:ln>
                <a:solidFill>
                  <a:schemeClr val="tx1"/>
                </a:solidFill>
                <a:effectLst/>
                <a:uLnTx/>
                <a:uFillTx/>
                <a:latin typeface="+mn-lt"/>
                <a:ea typeface="+mn-ea"/>
                <a:cs typeface="+mn-cs"/>
              </a:rPr>
              <a:t>5.</a:t>
            </a:r>
            <a:r>
              <a:rPr kumimoji="0" lang="en-US" altLang="en-IN" sz="2000" b="1"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000" b="1" i="0" u="none" strike="noStrike" kern="1200" cap="none" spc="0" normalizeH="0" baseline="0" noProof="0" dirty="0">
                <a:ln>
                  <a:noFill/>
                </a:ln>
                <a:solidFill>
                  <a:schemeClr val="tx1"/>
                </a:solidFill>
                <a:effectLst/>
                <a:uLnTx/>
                <a:uFillTx/>
                <a:latin typeface="+mn-lt"/>
                <a:ea typeface="+mn-ea"/>
                <a:cs typeface="+mn-cs"/>
              </a:rPr>
              <a:t>Visualization &amp; Dashboard Deployment Module:</a:t>
            </a:r>
            <a:endParaRPr kumimoji="0" lang="en-US" altLang="en-US" sz="2000" b="1"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en-US" sz="2000" b="1"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Displays historical and forecasted gold prices interactively.</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Provides next-day, next-week, and next-month forecast visualization.</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Shows forecast statistics such as average price and price range.</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Allows CSV export for analysis and reporting purposes.</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defRPr/>
            </a:pPr>
            <a:r>
              <a:rPr kumimoji="0" lang="en-US" altLang="en-US" sz="2000" i="0" u="none" strike="noStrike" kern="1200" cap="none" spc="0" normalizeH="0" baseline="0" noProof="0" dirty="0">
                <a:ln>
                  <a:noFill/>
                </a:ln>
                <a:solidFill>
                  <a:schemeClr val="tx1"/>
                </a:solidFill>
                <a:effectLst/>
                <a:uLnTx/>
                <a:uFillTx/>
                <a:latin typeface="+mn-lt"/>
                <a:ea typeface="+mn-ea"/>
                <a:cs typeface="+mn-cs"/>
              </a:rPr>
              <a:t>Deploys the complete system using Streamlit for user interaction.</a:t>
            </a:r>
            <a:endParaRPr kumimoji="0" lang="en-US" altLang="en-US" sz="200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200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2533" name="Picture 2"/>
          <p:cNvPicPr>
            <a:picLocks noChangeAspect="1"/>
          </p:cNvPicPr>
          <p:nvPr/>
        </p:nvPicPr>
        <p:blipFill>
          <a:blip r:embed="rId1"/>
          <a:stretch>
            <a:fillRect/>
          </a:stretch>
        </p:blipFill>
        <p:spPr>
          <a:xfrm>
            <a:off x="176213" y="0"/>
            <a:ext cx="11760200" cy="1301750"/>
          </a:xfrm>
          <a:prstGeom prst="rect">
            <a:avLst/>
          </a:prstGeom>
          <a:noFill/>
          <a:ln w="9525">
            <a:noFill/>
          </a:ln>
        </p:spPr>
      </p:pic>
      <p:pic>
        <p:nvPicPr>
          <p:cNvPr id="24580" name="Picture 6"/>
          <p:cNvPicPr>
            <a:picLocks noChangeAspect="1"/>
          </p:cNvPicPr>
          <p:nvPr/>
        </p:nvPicPr>
        <p:blipFill>
          <a:blip r:embed="rId2"/>
          <a:stretch>
            <a:fillRect/>
          </a:stretch>
        </p:blipFill>
        <p:spPr>
          <a:xfrm>
            <a:off x="0" y="5720080"/>
            <a:ext cx="12192000" cy="118110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a:xfrm>
            <a:off x="838200" y="854075"/>
            <a:ext cx="10515600" cy="1325563"/>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Output Screenshot</a:t>
            </a:r>
            <a:endParaRPr lang="en-IN" altLang="x-none" dirty="0">
              <a:latin typeface="Times New Roman" panose="02020603050405020304" pitchFamily="18" charset="0"/>
              <a:ea typeface="Times New Roman" panose="02020603050405020304" pitchFamily="18" charset="0"/>
            </a:endParaRPr>
          </a:p>
        </p:txBody>
      </p:sp>
      <p:sp>
        <p:nvSpPr>
          <p:cNvPr id="3" name="Slide Number Placeholder 2"/>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4580" name="Picture 6"/>
          <p:cNvPicPr>
            <a:picLocks noChangeAspect="1"/>
          </p:cNvPicPr>
          <p:nvPr/>
        </p:nvPicPr>
        <p:blipFill>
          <a:blip r:embed="rId1"/>
          <a:stretch>
            <a:fillRect/>
          </a:stretch>
        </p:blipFill>
        <p:spPr>
          <a:xfrm>
            <a:off x="0" y="5726430"/>
            <a:ext cx="12192000" cy="1181100"/>
          </a:xfrm>
          <a:prstGeom prst="rect">
            <a:avLst/>
          </a:prstGeom>
          <a:noFill/>
          <a:ln w="9525">
            <a:noFill/>
          </a:ln>
        </p:spPr>
      </p:pic>
      <p:pic>
        <p:nvPicPr>
          <p:cNvPr id="24581" name="Picture 2"/>
          <p:cNvPicPr>
            <a:picLocks noChangeAspect="1"/>
          </p:cNvPicPr>
          <p:nvPr/>
        </p:nvPicPr>
        <p:blipFill>
          <a:blip r:embed="rId2"/>
          <a:stretch>
            <a:fillRect/>
          </a:stretch>
        </p:blipFill>
        <p:spPr>
          <a:xfrm>
            <a:off x="176213" y="0"/>
            <a:ext cx="11760200" cy="1301750"/>
          </a:xfrm>
          <a:prstGeom prst="rect">
            <a:avLst/>
          </a:prstGeom>
          <a:noFill/>
          <a:ln w="9525">
            <a:noFill/>
          </a:ln>
        </p:spPr>
      </p:pic>
      <p:pic>
        <p:nvPicPr>
          <p:cNvPr id="2" name="Picture 1" descr="Screenshot 2026-05-09 163550"/>
          <p:cNvPicPr>
            <a:picLocks noChangeAspect="1"/>
          </p:cNvPicPr>
          <p:nvPr/>
        </p:nvPicPr>
        <p:blipFill>
          <a:blip r:embed="rId3"/>
          <a:stretch>
            <a:fillRect/>
          </a:stretch>
        </p:blipFill>
        <p:spPr>
          <a:xfrm>
            <a:off x="2872740" y="2325370"/>
            <a:ext cx="6190615" cy="31089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a:xfrm>
            <a:off x="838200" y="854075"/>
            <a:ext cx="10515600" cy="1325563"/>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Output Screenshot</a:t>
            </a:r>
            <a:endParaRPr lang="en-IN" altLang="x-none" dirty="0">
              <a:latin typeface="Times New Roman" panose="02020603050405020304" pitchFamily="18" charset="0"/>
              <a:ea typeface="Times New Roman" panose="02020603050405020304" pitchFamily="18" charset="0"/>
            </a:endParaRPr>
          </a:p>
        </p:txBody>
      </p:sp>
      <p:sp>
        <p:nvSpPr>
          <p:cNvPr id="3" name="Slide Number Placeholder 2"/>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6628" name="Picture 6"/>
          <p:cNvPicPr>
            <a:picLocks noChangeAspect="1"/>
          </p:cNvPicPr>
          <p:nvPr/>
        </p:nvPicPr>
        <p:blipFill>
          <a:blip r:embed="rId1"/>
          <a:stretch>
            <a:fillRect/>
          </a:stretch>
        </p:blipFill>
        <p:spPr>
          <a:xfrm>
            <a:off x="0" y="5720080"/>
            <a:ext cx="12192635" cy="1181100"/>
          </a:xfrm>
          <a:prstGeom prst="rect">
            <a:avLst/>
          </a:prstGeom>
          <a:noFill/>
          <a:ln w="9525">
            <a:noFill/>
          </a:ln>
        </p:spPr>
      </p:pic>
      <p:pic>
        <p:nvPicPr>
          <p:cNvPr id="26629" name="Picture 2"/>
          <p:cNvPicPr>
            <a:picLocks noChangeAspect="1"/>
          </p:cNvPicPr>
          <p:nvPr/>
        </p:nvPicPr>
        <p:blipFill>
          <a:blip r:embed="rId2"/>
          <a:stretch>
            <a:fillRect/>
          </a:stretch>
        </p:blipFill>
        <p:spPr>
          <a:xfrm>
            <a:off x="176213" y="0"/>
            <a:ext cx="11760200" cy="1301750"/>
          </a:xfrm>
          <a:prstGeom prst="rect">
            <a:avLst/>
          </a:prstGeom>
          <a:noFill/>
          <a:ln w="9525">
            <a:noFill/>
          </a:ln>
        </p:spPr>
      </p:pic>
      <p:pic>
        <p:nvPicPr>
          <p:cNvPr id="4" name="Picture 3"/>
          <p:cNvPicPr>
            <a:picLocks noChangeAspect="1"/>
          </p:cNvPicPr>
          <p:nvPr/>
        </p:nvPicPr>
        <p:blipFill>
          <a:blip r:embed="rId3"/>
          <a:stretch>
            <a:fillRect/>
          </a:stretch>
        </p:blipFill>
        <p:spPr>
          <a:xfrm>
            <a:off x="2727960" y="2423795"/>
            <a:ext cx="6750050" cy="29864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a:xfrm>
            <a:off x="838200" y="854075"/>
            <a:ext cx="10515600" cy="1325563"/>
          </a:xfrm>
        </p:spPr>
        <p:txBody>
          <a:bodyPr vert="horz" wrap="square" lIns="91440" tIns="45720" rIns="91440" bIns="45720" anchor="ctr" anchorCtr="0"/>
          <a:p>
            <a:pPr>
              <a:buNone/>
            </a:pPr>
            <a:br>
              <a:rPr lang="en-IN" altLang="x-none" dirty="0">
                <a:latin typeface="Times New Roman" panose="02020603050405020304" pitchFamily="18" charset="0"/>
                <a:cs typeface="Times New Roman" panose="02020603050405020304" pitchFamily="18" charset="0"/>
              </a:rPr>
            </a:br>
            <a:r>
              <a:rPr lang="en-IN" altLang="x-none" dirty="0">
                <a:latin typeface="Times New Roman" panose="02020603050405020304" pitchFamily="18" charset="0"/>
                <a:cs typeface="Times New Roman" panose="02020603050405020304" pitchFamily="18" charset="0"/>
              </a:rPr>
              <a:t>Output Screenshot</a:t>
            </a:r>
            <a:endParaRPr lang="en-IN" altLang="x-none" dirty="0">
              <a:latin typeface="Times New Roman" panose="02020603050405020304" pitchFamily="18" charset="0"/>
              <a:ea typeface="Times New Roman" panose="02020603050405020304" pitchFamily="18" charset="0"/>
            </a:endParaRPr>
          </a:p>
        </p:txBody>
      </p:sp>
      <p:sp>
        <p:nvSpPr>
          <p:cNvPr id="3" name="Slide Number Placeholder 2"/>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7652" name="Picture 6"/>
          <p:cNvPicPr>
            <a:picLocks noChangeAspect="1"/>
          </p:cNvPicPr>
          <p:nvPr/>
        </p:nvPicPr>
        <p:blipFill>
          <a:blip r:embed="rId1"/>
          <a:stretch>
            <a:fillRect/>
          </a:stretch>
        </p:blipFill>
        <p:spPr>
          <a:xfrm>
            <a:off x="0" y="5720080"/>
            <a:ext cx="12192000" cy="1181100"/>
          </a:xfrm>
          <a:prstGeom prst="rect">
            <a:avLst/>
          </a:prstGeom>
          <a:noFill/>
          <a:ln w="9525">
            <a:noFill/>
          </a:ln>
        </p:spPr>
      </p:pic>
      <p:pic>
        <p:nvPicPr>
          <p:cNvPr id="27653" name="Picture 2"/>
          <p:cNvPicPr>
            <a:picLocks noChangeAspect="1"/>
          </p:cNvPicPr>
          <p:nvPr/>
        </p:nvPicPr>
        <p:blipFill>
          <a:blip r:embed="rId2"/>
          <a:stretch>
            <a:fillRect/>
          </a:stretch>
        </p:blipFill>
        <p:spPr>
          <a:xfrm>
            <a:off x="176213" y="0"/>
            <a:ext cx="11760200" cy="1301750"/>
          </a:xfrm>
          <a:prstGeom prst="rect">
            <a:avLst/>
          </a:prstGeom>
          <a:noFill/>
          <a:ln w="9525">
            <a:noFill/>
          </a:ln>
        </p:spPr>
      </p:pic>
      <p:pic>
        <p:nvPicPr>
          <p:cNvPr id="4" name="Picture 3"/>
          <p:cNvPicPr>
            <a:picLocks noChangeAspect="1"/>
          </p:cNvPicPr>
          <p:nvPr/>
        </p:nvPicPr>
        <p:blipFill>
          <a:blip r:embed="rId3"/>
          <a:stretch>
            <a:fillRect/>
          </a:stretch>
        </p:blipFill>
        <p:spPr>
          <a:xfrm>
            <a:off x="2867025" y="2350770"/>
            <a:ext cx="6892290" cy="30257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xfrm>
            <a:off x="838200" y="993775"/>
            <a:ext cx="10515600" cy="1325563"/>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Conclusion</a:t>
            </a:r>
            <a:endParaRPr lang="en-IN" altLang="x-none" dirty="0">
              <a:latin typeface="Times New Roman" panose="02020603050405020304" pitchFamily="18" charset="0"/>
              <a:ea typeface="Times New Roman" panose="02020603050405020304" pitchFamily="18" charset="0"/>
            </a:endParaRPr>
          </a:p>
        </p:txBody>
      </p:sp>
      <p:sp>
        <p:nvSpPr>
          <p:cNvPr id="28675" name="Content Placeholder 2"/>
          <p:cNvSpPr>
            <a:spLocks noGrp="1"/>
          </p:cNvSpPr>
          <p:nvPr>
            <p:ph idx="1"/>
          </p:nvPr>
        </p:nvSpPr>
        <p:spPr>
          <a:xfrm>
            <a:off x="838200" y="2223135"/>
            <a:ext cx="10515600" cy="4189413"/>
          </a:xfrm>
        </p:spPr>
        <p:txBody>
          <a:bodyPr vert="horz" wrap="square" lIns="91440" tIns="45720" rIns="91440" bIns="45720" anchor="t" anchorCtr="0"/>
          <a:p>
            <a:pPr algn="just">
              <a:lnSpc>
                <a:spcPct val="80000"/>
              </a:lnSpc>
              <a:spcAft>
                <a:spcPts val="0"/>
              </a:spcAft>
            </a:pPr>
            <a:r>
              <a:rPr lang="en-US" altLang="en-US" sz="2000" dirty="0">
                <a:latin typeface="Times New Roman" panose="02020603050405020304" pitchFamily="18" charset="0"/>
                <a:ea typeface="Times New Roman" panose="02020603050405020304" pitchFamily="18" charset="0"/>
              </a:rPr>
              <a:t>Traditional statistical and basic deep learning models struggle to handle the complexity and volatility of financial time-series data effectively.</a:t>
            </a:r>
            <a:endParaRPr lang="en-US" altLang="en-US" sz="2000" dirty="0">
              <a:latin typeface="Times New Roman" panose="02020603050405020304" pitchFamily="18" charset="0"/>
              <a:ea typeface="Times New Roman" panose="02020603050405020304" pitchFamily="18" charset="0"/>
            </a:endParaRPr>
          </a:p>
          <a:p>
            <a:pPr algn="just">
              <a:lnSpc>
                <a:spcPct val="80000"/>
              </a:lnSpc>
              <a:spcAft>
                <a:spcPts val="0"/>
              </a:spcAft>
            </a:pPr>
            <a:r>
              <a:rPr lang="en-US" altLang="en-US" sz="2000" dirty="0">
                <a:latin typeface="Times New Roman" panose="02020603050405020304" pitchFamily="18" charset="0"/>
                <a:ea typeface="Times New Roman" panose="02020603050405020304" pitchFamily="18" charset="0"/>
              </a:rPr>
              <a:t>Modern deep learning models such as Chronos-T5 and N-HiTS provide better forecasting accuracy, scalability, and adaptability for multi-horizon prediction tasks.</a:t>
            </a:r>
            <a:endParaRPr lang="en-US" altLang="en-US" sz="2000" dirty="0">
              <a:latin typeface="Times New Roman" panose="02020603050405020304" pitchFamily="18" charset="0"/>
              <a:ea typeface="Times New Roman" panose="02020603050405020304" pitchFamily="18" charset="0"/>
            </a:endParaRPr>
          </a:p>
          <a:p>
            <a:pPr algn="just">
              <a:lnSpc>
                <a:spcPct val="80000"/>
              </a:lnSpc>
              <a:spcAft>
                <a:spcPts val="0"/>
              </a:spcAft>
            </a:pPr>
            <a:r>
              <a:rPr lang="en-US" altLang="en-US" sz="2000" dirty="0">
                <a:latin typeface="Times New Roman" panose="02020603050405020304" pitchFamily="18" charset="0"/>
                <a:ea typeface="Times New Roman" panose="02020603050405020304" pitchFamily="18" charset="0"/>
              </a:rPr>
              <a:t>Ensemble forecasting approaches improve robustness by reducing individual model bias and handling unpredictable market fluctuations more effectively.</a:t>
            </a:r>
            <a:endParaRPr lang="en-US" altLang="en-US" sz="2000" dirty="0">
              <a:latin typeface="Times New Roman" panose="02020603050405020304" pitchFamily="18" charset="0"/>
              <a:ea typeface="Times New Roman" panose="02020603050405020304" pitchFamily="18" charset="0"/>
            </a:endParaRPr>
          </a:p>
          <a:p>
            <a:pPr algn="just">
              <a:lnSpc>
                <a:spcPct val="80000"/>
              </a:lnSpc>
              <a:spcAft>
                <a:spcPts val="0"/>
              </a:spcAft>
            </a:pPr>
            <a:r>
              <a:rPr lang="en-US" altLang="en-US" sz="2000" dirty="0">
                <a:latin typeface="Times New Roman" panose="02020603050405020304" pitchFamily="18" charset="0"/>
                <a:ea typeface="Times New Roman" panose="02020603050405020304" pitchFamily="18" charset="0"/>
              </a:rPr>
              <a:t>The proposed system combines Chronos-T5 and N-HiTS to leverage both transfer learning capabilities and long-range forecasting performance.</a:t>
            </a:r>
            <a:endParaRPr lang="en-US" altLang="en-US" sz="2000" dirty="0">
              <a:latin typeface="Times New Roman" panose="02020603050405020304" pitchFamily="18" charset="0"/>
              <a:ea typeface="Times New Roman" panose="02020603050405020304" pitchFamily="18" charset="0"/>
            </a:endParaRPr>
          </a:p>
          <a:p>
            <a:pPr algn="just">
              <a:lnSpc>
                <a:spcPct val="80000"/>
              </a:lnSpc>
              <a:spcAft>
                <a:spcPts val="0"/>
              </a:spcAft>
            </a:pPr>
            <a:r>
              <a:rPr lang="en-US" altLang="en-US" sz="2000" dirty="0">
                <a:latin typeface="Times New Roman" panose="02020603050405020304" pitchFamily="18" charset="0"/>
                <a:ea typeface="Times New Roman" panose="02020603050405020304" pitchFamily="18" charset="0"/>
              </a:rPr>
              <a:t>This integrated ensemble framework aims to deliver more accurate, stable, and reliable gold price predictions for investor-focused decision making.</a:t>
            </a:r>
            <a:endParaRPr lang="en-US" altLang="en-US" sz="2000" dirty="0">
              <a:latin typeface="Times New Roman" panose="02020603050405020304" pitchFamily="18" charset="0"/>
              <a:ea typeface="Times New Roman" panose="02020603050405020304" pitchFamily="18" charset="0"/>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8677" name="Picture 6"/>
          <p:cNvPicPr>
            <a:picLocks noChangeAspect="1"/>
          </p:cNvPicPr>
          <p:nvPr/>
        </p:nvPicPr>
        <p:blipFill>
          <a:blip r:embed="rId1"/>
          <a:stretch>
            <a:fillRect/>
          </a:stretch>
        </p:blipFill>
        <p:spPr>
          <a:xfrm>
            <a:off x="0" y="5676900"/>
            <a:ext cx="12192635" cy="1181100"/>
          </a:xfrm>
          <a:prstGeom prst="rect">
            <a:avLst/>
          </a:prstGeom>
          <a:noFill/>
          <a:ln w="9525">
            <a:noFill/>
          </a:ln>
        </p:spPr>
      </p:pic>
      <p:pic>
        <p:nvPicPr>
          <p:cNvPr id="28678"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a:xfrm>
            <a:off x="342900" y="982663"/>
            <a:ext cx="10515600" cy="1327150"/>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Future Enhancement</a:t>
            </a:r>
            <a:endParaRPr lang="en-IN" altLang="x-none" dirty="0">
              <a:latin typeface="Times New Roman" panose="02020603050405020304" pitchFamily="18" charset="0"/>
              <a:ea typeface="Times New Roman" panose="02020603050405020304" pitchFamily="18" charset="0"/>
            </a:endParaRPr>
          </a:p>
        </p:txBody>
      </p:sp>
      <p:sp>
        <p:nvSpPr>
          <p:cNvPr id="29699" name="Content Placeholder 2"/>
          <p:cNvSpPr>
            <a:spLocks noGrp="1"/>
          </p:cNvSpPr>
          <p:nvPr>
            <p:ph idx="1"/>
          </p:nvPr>
        </p:nvSpPr>
        <p:spPr>
          <a:xfrm>
            <a:off x="502285" y="2148840"/>
            <a:ext cx="10515600" cy="4351338"/>
          </a:xfrm>
        </p:spPr>
        <p:txBody>
          <a:bodyPr vert="horz" wrap="square" lIns="91440" tIns="45720" rIns="91440" bIns="45720" anchor="t" anchorCtr="0"/>
          <a:p>
            <a:r>
              <a:rPr lang="en-US" altLang="en-US" sz="2000" dirty="0"/>
              <a:t>Integrate News Sentiment Analysis using NLP/LLMs for market-aware forecasting.</a:t>
            </a:r>
            <a:endParaRPr lang="en-US" altLang="en-US" sz="2000" dirty="0"/>
          </a:p>
          <a:p>
            <a:r>
              <a:rPr lang="en-US" altLang="en-US" sz="2000" dirty="0"/>
              <a:t>Add Confidence Intervals for uncertainty-aware predictions.</a:t>
            </a:r>
            <a:endParaRPr lang="en-US" altLang="en-US" sz="2000" dirty="0"/>
          </a:p>
          <a:p>
            <a:r>
              <a:rPr lang="en-US" altLang="en-US" sz="2000" dirty="0"/>
              <a:t>Implement Real-Time Data Streaming for live gold price updates.</a:t>
            </a:r>
            <a:endParaRPr lang="en-US" altLang="en-US" sz="2000" dirty="0"/>
          </a:p>
          <a:p>
            <a:r>
              <a:rPr lang="en-US" altLang="en-US" sz="2000" dirty="0"/>
              <a:t>Improve Long-Term Forecasting Accuracy using advanced ensemble optimization.</a:t>
            </a:r>
            <a:endParaRPr lang="en-US" altLang="en-US" sz="2000" dirty="0"/>
          </a:p>
          <a:p>
            <a:r>
              <a:rPr lang="en-US" altLang="en-US" sz="2000" dirty="0"/>
              <a:t>Develop Mobile-Friendly Deployment with alert and notification features.</a:t>
            </a:r>
            <a:endParaRPr lang="en-US" altLang="en-US" sz="2000" dirty="0"/>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29701" name="Picture 6"/>
          <p:cNvPicPr>
            <a:picLocks noChangeAspect="1"/>
          </p:cNvPicPr>
          <p:nvPr/>
        </p:nvPicPr>
        <p:blipFill>
          <a:blip r:embed="rId1"/>
          <a:stretch>
            <a:fillRect/>
          </a:stretch>
        </p:blipFill>
        <p:spPr>
          <a:xfrm>
            <a:off x="0" y="5676900"/>
            <a:ext cx="12192000" cy="1181100"/>
          </a:xfrm>
          <a:prstGeom prst="rect">
            <a:avLst/>
          </a:prstGeom>
          <a:noFill/>
          <a:ln w="9525">
            <a:noFill/>
          </a:ln>
        </p:spPr>
      </p:pic>
      <p:pic>
        <p:nvPicPr>
          <p:cNvPr id="29702"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a:xfrm>
            <a:off x="838200" y="900113"/>
            <a:ext cx="10515600" cy="1325562"/>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References </a:t>
            </a:r>
            <a:endParaRPr lang="en-IN" altLang="x-none"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838200" y="1853565"/>
            <a:ext cx="10981055" cy="2642235"/>
          </a:xfrm>
        </p:spPr>
        <p:txBody>
          <a:bodyPr vert="horz" lIns="91440" tIns="45720" rIns="91440" bIns="45720" rtlCol="0"/>
          <a:lstStyle/>
          <a:p>
            <a:pPr marR="0" lvl="0" algn="l" defTabSz="914400" rtl="0" eaLnBrk="1" fontAlgn="auto" latinLnBrk="0" hangingPunct="1">
              <a:lnSpc>
                <a:spcPct val="100000"/>
              </a:lnSpc>
              <a:spcBef>
                <a:spcPts val="0"/>
              </a:spcBef>
              <a:spcAft>
                <a:spcPts val="0"/>
              </a:spcAft>
              <a:buClrTx/>
              <a:buSzTx/>
              <a:buFontTx/>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[1] M. Ansari, A. Bansal, K. Dhingra, and S. Singh, “Chronos: Learning the Language of</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Time Series,” arXiv preprint arXiv:2403.07815, 2024.</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Tx/>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[2] C. Challu, K. Olivares, M. T. Januschowski, L. Salinas, and A. Flunkert, “N-HiTS:</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Neural Hierarchical Interpolation</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for Time Series Forecasting,” Proceedings of the AAAI</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Conference on Artificial Intelligence, vol. 36, no. 6, pp. 6989–6997, 2022.</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Tx/>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[3] R. J. Hyndman and G. Athanasopoulos, “Forecasting: Principles and Practice,” OTexts,</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3rd ed., 2021.</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Tx/>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[4] G. Zhang, B. Eddy Patuwo, and M. Y. Hu, “Forecasting with Artificial Neural</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Networks: The State of the Art,” IEEE Transactions on Neural Networks, vol. 14, no. 1,</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pp. 35–62, Jan. 2003.</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[5] S. Hochreiter and J. Schmidhuber, “Long Short-Term Memory,” Neural Computation,</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vol. 9, no. 8, pp. 1735–1780, 1997</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[6] A. Borovykh, S. Bohte, and C. W. Oosterlee, “Conditional Time Series Forecasting</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with Convolutional Neural Networks,” IEEE International Conference on Data Mining</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Workshops (ICDMW), pp. 115–121, 2017.</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[7] F. Petropoulos, S. Makridakis, V. Assimakopoulos, and N. Nikolopoulos, “Horses for</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Courses in Demand Forecasting,” European Journal of Operational Research, vol. 237,</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no. 1, pp. 152–163, 2014.</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[8] S. Makridakis, E. Spiliotis, and V. Assimakopoulos, “Statistical and Machine Learning</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Forecasting Methods: Concerns and Ways Forward,” PLOS ONE, vol. 13, no. 3, 2018.</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[9] T. Fischer and C. Krauss, “Deep Learning with Long Short-Term Memory Networks</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for Financial Market Predictions,” European Journal of Operational Research, vol. 270,</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no. 2, pp. 654–669, 2018.</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defRPr/>
            </a:pPr>
            <a:r>
              <a:rPr kumimoji="0" lang="en-US" altLang="en-US" sz="1400" b="0" i="0" u="none" strike="noStrike" kern="1200" cap="none" spc="0" normalizeH="0" baseline="0" noProof="0" dirty="0">
                <a:ln>
                  <a:noFill/>
                </a:ln>
                <a:solidFill>
                  <a:schemeClr val="tx1"/>
                </a:solidFill>
                <a:effectLst/>
                <a:uLnTx/>
                <a:uFillTx/>
                <a:latin typeface="+mn-lt"/>
                <a:ea typeface="+mn-ea"/>
                <a:cs typeface="+mn-cs"/>
              </a:rPr>
              <a:t>[10] Y. Zhang, Q. Song, and J. Zhang, “Deep Learning-Based Financial Time Series</a:t>
            </a:r>
            <a:r>
              <a:rPr kumimoji="0" lang="en-I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en-US" sz="1400" b="0" i="0" u="none" strike="noStrike" kern="1200" cap="none" spc="0" normalizeH="0" baseline="0" noProof="0" dirty="0">
                <a:ln>
                  <a:noFill/>
                </a:ln>
                <a:solidFill>
                  <a:schemeClr val="tx1"/>
                </a:solidFill>
                <a:effectLst/>
                <a:uLnTx/>
                <a:uFillTx/>
                <a:latin typeface="+mn-lt"/>
                <a:ea typeface="+mn-ea"/>
                <a:cs typeface="+mn-cs"/>
              </a:rPr>
              <a:t>Forecasting: A Survey,” IEEE Access, vol. 9, pp. 59312–59336, 2021.</a:t>
            </a:r>
            <a:endParaRPr kumimoji="0" lang="en-US" altLang="en-US"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sz="5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sz="5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defRPr/>
            </a:pPr>
            <a:endParaRPr kumimoji="0" lang="en-US" sz="500" b="0" i="0" u="none" strike="noStrike" kern="1200" cap="none" spc="0" normalizeH="0" baseline="0" noProof="0" dirty="0">
              <a:ln>
                <a:noFill/>
              </a:ln>
              <a:solidFill>
                <a:schemeClr val="dk1"/>
              </a:solidFill>
              <a:effectLst/>
              <a:uLnTx/>
              <a:uFillTx/>
              <a:latin typeface="+mn-lt"/>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defRPr/>
            </a:pPr>
            <a:endParaRPr kumimoji="0" lang="en-US" sz="5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5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500" b="0" i="0" u="none" strike="noStrike" kern="1200" cap="none" spc="0" normalizeH="0" baseline="0" noProof="0" dirty="0">
              <a:ln>
                <a:noFill/>
              </a:ln>
              <a:solidFill>
                <a:schemeClr val="dk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endParaRPr kumimoji="0" lang="en-IN" sz="500" b="0" i="0" u="none" strike="noStrike" kern="1200" cap="none" spc="0" normalizeH="0" baseline="0" noProof="0" dirty="0">
              <a:ln>
                <a:noFill/>
              </a:ln>
              <a:solidFill>
                <a:schemeClr val="dk1"/>
              </a:solidFill>
              <a:effectLst/>
              <a:uLnTx/>
              <a:uFillTx/>
              <a:latin typeface="+mn-lt"/>
              <a:ea typeface="+mn-ea"/>
              <a:cs typeface="+mn-cs"/>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30725" name="Picture 7"/>
          <p:cNvPicPr>
            <a:picLocks noChangeAspect="1"/>
          </p:cNvPicPr>
          <p:nvPr/>
        </p:nvPicPr>
        <p:blipFill>
          <a:blip r:embed="rId1"/>
          <a:stretch>
            <a:fillRect/>
          </a:stretch>
        </p:blipFill>
        <p:spPr>
          <a:xfrm>
            <a:off x="0" y="5676900"/>
            <a:ext cx="12192000" cy="1181100"/>
          </a:xfrm>
          <a:prstGeom prst="rect">
            <a:avLst/>
          </a:prstGeom>
          <a:noFill/>
          <a:ln w="9525">
            <a:noFill/>
          </a:ln>
        </p:spPr>
      </p:pic>
      <p:pic>
        <p:nvPicPr>
          <p:cNvPr id="30726"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a:xfrm>
            <a:off x="922338" y="1139825"/>
            <a:ext cx="10515600" cy="1325563"/>
          </a:xfrm>
        </p:spPr>
        <p:txBody>
          <a:bodyPr vert="horz" wrap="square" lIns="91440" tIns="45720" rIns="91440" bIns="45720" anchor="ctr" anchorCtr="0"/>
          <a:p>
            <a:pPr>
              <a:buNone/>
            </a:pPr>
            <a:r>
              <a:rPr lang="en-IN" altLang="x-none" dirty="0">
                <a:latin typeface="Times New Roman" panose="02020603050405020304" pitchFamily="18" charset="0"/>
                <a:cs typeface="Times New Roman" panose="02020603050405020304" pitchFamily="18" charset="0"/>
              </a:rPr>
              <a:t>References</a:t>
            </a:r>
            <a:endParaRPr lang="en-IN" altLang="x-none"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922020" y="1804670"/>
            <a:ext cx="11091545" cy="3919855"/>
          </a:xfrm>
        </p:spPr>
        <p:txBody>
          <a:bodyPr vert="horz" lIns="91440" tIns="45720" rIns="91440" bIns="45720" rtlCol="0"/>
          <a:lstStyle/>
          <a:p>
            <a:pPr marR="0" lvl="0" algn="just" defTabSz="914400" rtl="0" eaLnBrk="1" fontAlgn="auto" latinLnBrk="0" hangingPunct="1">
              <a:lnSpc>
                <a:spcPct val="115000"/>
              </a:lnSpc>
              <a:spcBef>
                <a:spcPts val="1000"/>
              </a:spcBef>
              <a:spcAft>
                <a:spcPts val="250"/>
              </a:spcAft>
              <a:buClrTx/>
              <a:buSzTx/>
              <a:buFont typeface="+mj-lt"/>
              <a:buAutoNum type="arabicPeriod" startAt="11"/>
              <a:defRPr/>
            </a:pPr>
            <a:endParaRPr kumimoji="0" lang="en-IN" sz="1200" b="0" i="0" u="none" strike="noStrike" kern="1200" cap="none" spc="0" normalizeH="0" baseline="0" noProof="0" dirty="0">
              <a:ln>
                <a:noFill/>
              </a:ln>
              <a:solidFill>
                <a:schemeClr val="tx1"/>
              </a:solidFill>
              <a:effectLst/>
              <a:uLnTx/>
              <a:uFillTx/>
              <a:latin typeface="Arial" panose="020B0604020202020204" pitchFamily="34" charset="0"/>
              <a:ea typeface="Arial" panose="020B0604020202020204" pitchFamily="34" charset="0"/>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[11] B. N. Oreshkin, D. Carpov, N. Chapados, and Y. Bengio, "N-BEATS: Neural Basis Expansion Analysis for Interpretable Time Series Forecasting," in Proceedings of the 8th International Conference on Learning Representations (ICLR), 2020.</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[12] H. Zhou, S. Zhang, J. Peng, S. Zhang, J. Li, H. Xiong, and W. Zhang, "Informer: Beyond Efficient Transformer for Long Sequence Time-Series Forecasting," in Proceedings of the 35th AAAI Conference on Artificial Intelligence (AAAI), vol. 35, pp. 11106–11115, 2021.</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[13] H. Wu, J. Xu, J. Wang, and M. Long, "Autoformer: Decomposition Transformers with Auto-Correlation for Long-Term Series Forecasting," in Advances in Neural Information Processing Systems (NeurIPS), vol. 34, 2021.</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[14] T. Zhou, Z. Ma, Q. Wen, X. Wang, L. Sun, and R. Jin, "FEDformer: Frequency Enhanced Decomposed Transformer for Long-Term Series Forecasting," in Proceedings of the 39th International Conference on Machine Learning (ICML), 2022.</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[15] Y. Nie, N. H. Nguyen, P. Sinthong, and J. Kalagnanam, "A Time Series is Worth 64 Words: Long-term Forecasting with Transformers," in Proceedings of the 11th International Conference on Learning Representations (ICLR), 2023.</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[16] A. Zeng, M. Chen, L. Zhang, and Q. Xu, "Are Transformers Effective for Time Series Forecasting?" in Proceedings of the 37th AAAI Conference on Artificial Intelligence (AAAI), vol. 37, no. 9, 2023.</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[17] Y. Liu, T. Hu, H. Zhang, H. Wu, S. Wang, L. Ma, and M. Long, "iTransformer: Inverted Transformers Are Effective for Time Series Forecasting," in Proceedings of the 12th International Conference on Learning Representations (ICLR), 2024.</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[18] H. Wu, T. Hu, Y. Liu, H. Zhou, J. Wang, and M. Long, "TimesNet: Temporal 2D-Variation Modeling for General Time Series Analysis," in Proceedings of the 11th International Conference on Learning Representations (ICLR), 2023.</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[19] D. Salinas, V. Flunkert, J. Gasthaus, and T. Januschowski, "DeepAR: Probabilistic Forecasting with Autoregressive Recurrent Networks," International Journal of Forecasting, vol. 36, no. 3, pp. 1181–1191, 2020.</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r>
              <a:rPr kumimoji="0" lang="en-US" altLang="en-US" sz="1200" b="0" i="0" u="none" strike="noStrike" kern="1200" cap="none" spc="0" normalizeH="0" baseline="0" noProof="0" dirty="0">
                <a:ln>
                  <a:noFill/>
                </a:ln>
                <a:solidFill>
                  <a:schemeClr val="tx1"/>
                </a:solidFill>
                <a:effectLst/>
                <a:uLnTx/>
                <a:uFillTx/>
                <a:latin typeface="+mn-lt"/>
                <a:ea typeface="+mn-ea"/>
                <a:cs typeface="+mn-cs"/>
              </a:rPr>
              <a:t>[20] B. Lim and S. Zohren, "Time-Series Forecasting with Deep Learning: A Survey," Philosophical Transactions of the Royal Society A, vol. 379, no. 2194, 2021.</a:t>
            </a:r>
            <a:endParaRPr kumimoji="0" lang="en-US" alt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IN"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buFont typeface="+mj-lt"/>
              <a:buAutoNum type="arabicPeriod" startAt="11"/>
              <a:defRPr/>
            </a:pPr>
            <a:endParaRPr kumimoji="0" lang="en-US" sz="1200" b="0" i="0" u="none" strike="noStrike" kern="1200" cap="none" spc="0" normalizeH="0" baseline="0" noProof="0" dirty="0">
              <a:ln>
                <a:noFill/>
              </a:ln>
              <a:solidFill>
                <a:schemeClr val="dk1"/>
              </a:solidFill>
              <a:effectLst/>
              <a:uLnTx/>
              <a:uFillTx/>
              <a:latin typeface="+mn-lt"/>
              <a:ea typeface="+mn-ea"/>
              <a:cs typeface="+mn-cs"/>
            </a:endParaRPr>
          </a:p>
          <a:p>
            <a:pPr marR="0" lvl="0" algn="l" defTabSz="914400" rtl="0" eaLnBrk="1" fontAlgn="auto" latinLnBrk="0" hangingPunct="1">
              <a:lnSpc>
                <a:spcPct val="90000"/>
              </a:lnSpc>
              <a:spcBef>
                <a:spcPts val="1000"/>
              </a:spcBef>
              <a:spcAft>
                <a:spcPts val="0"/>
              </a:spcAft>
              <a:buClrTx/>
              <a:buSzTx/>
              <a:buFont typeface="+mj-lt"/>
              <a:buAutoNum type="arabicPeriod" startAt="11"/>
              <a:defRPr/>
            </a:pPr>
            <a:endParaRPr kumimoji="0" lang="en-US" sz="1200" b="0" i="0" u="none" strike="noStrike" kern="1200" cap="none" spc="0" normalizeH="0" baseline="0" noProof="0" dirty="0">
              <a:ln>
                <a:noFill/>
              </a:ln>
              <a:solidFill>
                <a:schemeClr val="dk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IN" sz="1200" b="0" i="0" u="none" strike="noStrike" kern="1200" cap="none" spc="0" normalizeH="0" baseline="0" noProof="0" dirty="0">
              <a:ln>
                <a:noFill/>
              </a:ln>
              <a:solidFill>
                <a:schemeClr val="dk1"/>
              </a:solidFill>
              <a:effectLst/>
              <a:uLnTx/>
              <a:uFillTx/>
              <a:latin typeface="+mn-lt"/>
              <a:ea typeface="+mn-ea"/>
              <a:cs typeface="+mn-cs"/>
            </a:endParaRPr>
          </a:p>
          <a:p>
            <a:pPr marR="0" lvl="0" algn="l" defTabSz="914400" rtl="0" eaLnBrk="1" fontAlgn="auto" latinLnBrk="0" hangingPunct="1">
              <a:lnSpc>
                <a:spcPct val="100000"/>
              </a:lnSpc>
              <a:spcBef>
                <a:spcPts val="0"/>
              </a:spcBef>
              <a:spcAft>
                <a:spcPts val="0"/>
              </a:spcAft>
              <a:buClrTx/>
              <a:buSzTx/>
              <a:buFont typeface="+mj-lt"/>
              <a:buAutoNum type="arabicPeriod" startAt="11"/>
              <a:defRPr/>
            </a:pPr>
            <a:endParaRPr kumimoji="0" lang="en-IN" sz="1200" b="0" i="0" u="none" strike="noStrike" kern="1200" cap="none" spc="0" normalizeH="0" baseline="0" noProof="0" dirty="0">
              <a:ln>
                <a:noFill/>
              </a:ln>
              <a:solidFill>
                <a:schemeClr val="dk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startAt="11"/>
              <a:defRPr/>
            </a:pPr>
            <a:endParaRPr kumimoji="0" lang="en-IN" sz="1200" b="0" i="0" u="none" strike="noStrike" kern="1200" cap="none" spc="0" normalizeH="0" baseline="0" noProof="0" dirty="0">
              <a:ln>
                <a:noFill/>
              </a:ln>
              <a:solidFill>
                <a:schemeClr val="dk1"/>
              </a:solidFill>
              <a:effectLst/>
              <a:uLnTx/>
              <a:uFillTx/>
              <a:latin typeface="+mn-lt"/>
              <a:ea typeface="+mn-ea"/>
              <a:cs typeface="+mn-cs"/>
            </a:endParaRPr>
          </a:p>
        </p:txBody>
      </p:sp>
      <p:sp>
        <p:nvSpPr>
          <p:cNvPr id="4" name="Slide Number Placeholder 3"/>
          <p:cNvSpPr txBox="1">
            <a:spLocks noGrp="1"/>
          </p:cNvSpPr>
          <p:nvPr>
            <p:ph type="sldNum" sz="quarter" idx="12"/>
          </p:nvPr>
        </p:nvSpPr>
        <p:spPr>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r">
              <a:buNone/>
            </a:pPr>
            <a:fld id="{9A0DB2DC-4C9A-4742-B13C-FB6460FD3503}" type="slidenum">
              <a:rPr lang="en-IN" altLang="x-none" sz="1200" dirty="0">
                <a:solidFill>
                  <a:srgbClr val="898989"/>
                </a:solidFill>
              </a:rPr>
            </a:fld>
            <a:endParaRPr lang="en-IN" altLang="x-none" sz="1200" dirty="0">
              <a:solidFill>
                <a:srgbClr val="898989"/>
              </a:solidFill>
            </a:endParaRPr>
          </a:p>
        </p:txBody>
      </p:sp>
      <p:pic>
        <p:nvPicPr>
          <p:cNvPr id="31749" name="Picture 6"/>
          <p:cNvPicPr>
            <a:picLocks noChangeAspect="1"/>
          </p:cNvPicPr>
          <p:nvPr/>
        </p:nvPicPr>
        <p:blipFill>
          <a:blip r:embed="rId1"/>
          <a:stretch>
            <a:fillRect/>
          </a:stretch>
        </p:blipFill>
        <p:spPr>
          <a:xfrm>
            <a:off x="0" y="5681980"/>
            <a:ext cx="12192000" cy="1181100"/>
          </a:xfrm>
          <a:prstGeom prst="rect">
            <a:avLst/>
          </a:prstGeom>
          <a:noFill/>
          <a:ln w="9525">
            <a:noFill/>
          </a:ln>
        </p:spPr>
      </p:pic>
      <p:pic>
        <p:nvPicPr>
          <p:cNvPr id="31750" name="Picture 2"/>
          <p:cNvPicPr>
            <a:picLocks noChangeAspect="1"/>
          </p:cNvPicPr>
          <p:nvPr/>
        </p:nvPicPr>
        <p:blipFill>
          <a:blip r:embed="rId2"/>
          <a:stretch>
            <a:fillRect/>
          </a:stretch>
        </p:blipFill>
        <p:spPr>
          <a:xfrm>
            <a:off x="176213" y="0"/>
            <a:ext cx="11760200" cy="130175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217670" y="2762885"/>
            <a:ext cx="4064000" cy="922020"/>
          </a:xfrm>
          <a:prstGeom prst="rect">
            <a:avLst/>
          </a:prstGeom>
          <a:noFill/>
        </p:spPr>
        <p:txBody>
          <a:bodyPr wrap="square" rtlCol="0">
            <a:spAutoFit/>
          </a:bodyPr>
          <a:p>
            <a:pPr algn="ctr"/>
            <a:r>
              <a:rPr lang="en-IN" altLang="en-US" sz="5400" b="1">
                <a:latin typeface="Times New Roman" panose="02020603050405020304" pitchFamily="18" charset="0"/>
                <a:cs typeface="Times New Roman" panose="02020603050405020304" pitchFamily="18" charset="0"/>
              </a:rPr>
              <a:t>Thank You!</a:t>
            </a:r>
            <a:endParaRPr lang="en-IN" altLang="en-US" sz="5400" b="1">
              <a:latin typeface="Times New Roman" panose="02020603050405020304" pitchFamily="18" charset="0"/>
              <a:cs typeface="Times New Roman" panose="02020603050405020304" pitchFamily="18" charset="0"/>
            </a:endParaRPr>
          </a:p>
        </p:txBody>
      </p:sp>
      <p:pic>
        <p:nvPicPr>
          <p:cNvPr id="31750" name="Picture 2"/>
          <p:cNvPicPr>
            <a:picLocks noChangeAspect="1"/>
          </p:cNvPicPr>
          <p:nvPr/>
        </p:nvPicPr>
        <p:blipFill>
          <a:blip r:embed="rId1"/>
          <a:stretch>
            <a:fillRect/>
          </a:stretch>
        </p:blipFill>
        <p:spPr>
          <a:xfrm>
            <a:off x="176213" y="0"/>
            <a:ext cx="11760200" cy="1301750"/>
          </a:xfrm>
          <a:prstGeom prst="rect">
            <a:avLst/>
          </a:prstGeom>
          <a:noFill/>
          <a:ln w="9525">
            <a:noFill/>
          </a:ln>
        </p:spPr>
      </p:pic>
      <p:pic>
        <p:nvPicPr>
          <p:cNvPr id="31749" name="Picture 6"/>
          <p:cNvPicPr>
            <a:picLocks noChangeAspect="1"/>
          </p:cNvPicPr>
          <p:nvPr/>
        </p:nvPicPr>
        <p:blipFill>
          <a:blip r:embed="rId2"/>
          <a:stretch>
            <a:fillRect/>
          </a:stretch>
        </p:blipFill>
        <p:spPr>
          <a:xfrm>
            <a:off x="0" y="5681980"/>
            <a:ext cx="12192000" cy="1181100"/>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18588</Words>
  <Application>WPS Presentation</Application>
  <PresentationFormat>Custom</PresentationFormat>
  <Paragraphs>482</Paragraphs>
  <Slides>31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Arial</vt:lpstr>
      <vt:lpstr>SimSun</vt:lpstr>
      <vt:lpstr>Wingdings</vt:lpstr>
      <vt:lpstr>Calibri</vt:lpstr>
      <vt:lpstr>Times New Roman</vt:lpstr>
      <vt:lpstr>Microsoft YaHei</vt:lpstr>
      <vt:lpstr>Arial Unicode MS</vt:lpstr>
      <vt:lpstr>Calibri Light</vt:lpstr>
      <vt:lpstr>Office Theme</vt:lpstr>
      <vt:lpstr>Advanced Gold Price Forecasting System</vt:lpstr>
      <vt:lpstr>Abstract</vt:lpstr>
      <vt:lpstr> Objective</vt:lpstr>
      <vt:lpstr> Objective</vt:lpstr>
      <vt:lpstr> Literature Survey</vt:lpstr>
      <vt:lpstr>PowerPoint 演示文稿</vt:lpstr>
      <vt:lpstr>PowerPoint 演示文稿</vt:lpstr>
      <vt:lpstr>PowerPoint 演示文稿</vt:lpstr>
      <vt:lpstr>PowerPoint 演示文稿</vt:lpstr>
      <vt:lpstr> Existing System</vt:lpstr>
      <vt:lpstr> Drawbacks</vt:lpstr>
      <vt:lpstr> Proposed System</vt:lpstr>
      <vt:lpstr> Algorithms Used</vt:lpstr>
      <vt:lpstr>Working mechanism</vt:lpstr>
      <vt:lpstr>Advantages</vt:lpstr>
      <vt:lpstr>System Requirements</vt:lpstr>
      <vt:lpstr>System Architecture</vt:lpstr>
      <vt:lpstr> Modules</vt:lpstr>
      <vt:lpstr>  Module Description</vt:lpstr>
      <vt:lpstr>  Module Description</vt:lpstr>
      <vt:lpstr>   Module Description </vt:lpstr>
      <vt:lpstr>  Module Description</vt:lpstr>
      <vt:lpstr>  Module Description</vt:lpstr>
      <vt:lpstr> Output Screenshot</vt:lpstr>
      <vt:lpstr> Output Screenshot</vt:lpstr>
      <vt:lpstr> Output Screenshot</vt:lpstr>
      <vt:lpstr>Conclusion</vt:lpstr>
      <vt:lpstr>Future Enhancement</vt:lpstr>
      <vt:lpstr>References </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anslam sibi sam raj</dc:creator>
  <cp:lastModifiedBy>kisho</cp:lastModifiedBy>
  <cp:revision>31</cp:revision>
  <dcterms:created xsi:type="dcterms:W3CDTF">2020-10-05T04:30:00Z</dcterms:created>
  <dcterms:modified xsi:type="dcterms:W3CDTF">2026-08-11T04:56:42Z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B667C1C8E8124AEBBF2BEC01F3D0BB42_13</vt:lpwstr>
  </property>
  <property fmtid="{D5CDD505-2E9C-101B-9397-08002B2CF9AE}" pid="3" name="KSOProductBuildVer">
    <vt:lpwstr>1033-12.1.0.28032</vt:lpwstr>
  </property>
</Properties>
</file>